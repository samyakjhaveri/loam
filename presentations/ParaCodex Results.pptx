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7y9R9NmrFzEetO7jsGNY6j0h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9C674F-2F72-4A0E-AF4C-79DACA61A254}">
  <a:tblStyle styleId="{159C674F-2F72-4A0E-AF4C-79DACA61A254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7E9EC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7E9EC"/>
          </a:solidFill>
        </a:fill>
      </a:tcStyle>
    </a:firstRow>
    <a:neCell>
      <a:tcTxStyle/>
    </a:neCell>
    <a:nwCell>
      <a:tcTxStyle/>
    </a:nwCell>
  </a:tblStyle>
  <a:tblStyle styleId="{08386F6D-77C5-472A-8409-89F055A6A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f450249a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f450249a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f450249a7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f450249a7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f450249a7_2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f450249a7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ef2beff2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ef2beff2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f3488b70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af3488b70f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0ed32a72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0ed32a7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E9E9"/>
              </a:buClr>
              <a:buSzPts val="2400"/>
              <a:buNone/>
              <a:defRPr sz="2400">
                <a:solidFill>
                  <a:srgbClr val="E9E9E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E9E9"/>
              </a:buClr>
              <a:buSzPts val="2000"/>
              <a:buNone/>
              <a:defRPr sz="2000">
                <a:solidFill>
                  <a:srgbClr val="E9E9E9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E9E9"/>
              </a:buClr>
              <a:buSzPts val="1800"/>
              <a:buNone/>
              <a:defRPr sz="1800">
                <a:solidFill>
                  <a:srgbClr val="E9E9E9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E9E9"/>
              </a:buClr>
              <a:buSzPts val="1600"/>
              <a:buNone/>
              <a:defRPr sz="1600">
                <a:solidFill>
                  <a:srgbClr val="E9E9E9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E9E9"/>
              </a:buClr>
              <a:buSzPts val="1600"/>
              <a:buNone/>
              <a:defRPr sz="1600">
                <a:solidFill>
                  <a:srgbClr val="E9E9E9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E9E9"/>
              </a:buClr>
              <a:buSzPts val="1600"/>
              <a:buNone/>
              <a:defRPr sz="1600">
                <a:solidFill>
                  <a:srgbClr val="E9E9E9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E9E9"/>
              </a:buClr>
              <a:buSzPts val="1600"/>
              <a:buNone/>
              <a:defRPr sz="1600">
                <a:solidFill>
                  <a:srgbClr val="E9E9E9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E9E9"/>
              </a:buClr>
              <a:buSzPts val="1600"/>
              <a:buNone/>
              <a:defRPr sz="1600">
                <a:solidFill>
                  <a:srgbClr val="E9E9E9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E9E9"/>
              </a:buClr>
              <a:buSzPts val="1600"/>
              <a:buNone/>
              <a:defRPr sz="1600">
                <a:solidFill>
                  <a:srgbClr val="E9E9E9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i="0" sz="4400" u="none" cap="none" strike="noStrik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rxiv.org/pdf/2506.20938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hyperlink" Target="http://localhost:8000/results_tabl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rPr lang="en-US"/>
              <a:t>ParaCodex Results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208371"/>
            <a:ext cx="105156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US"/>
              <a:t>ParaCodex – Guided Parallelization Agent</a:t>
            </a:r>
            <a:endParaRPr/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777" r="787" t="0"/>
          <a:stretch/>
        </p:blipFill>
        <p:spPr>
          <a:xfrm>
            <a:off x="545275" y="861950"/>
            <a:ext cx="11362401" cy="5906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f450249a7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Benchmarks</a:t>
            </a:r>
            <a:endParaRPr/>
          </a:p>
        </p:txBody>
      </p:sp>
      <p:sp>
        <p:nvSpPr>
          <p:cNvPr id="97" name="Google Shape;97;g3af450249a7_0_8"/>
          <p:cNvSpPr txBox="1"/>
          <p:nvPr>
            <p:ph idx="1" type="body"/>
          </p:nvPr>
        </p:nvSpPr>
        <p:spPr>
          <a:xfrm>
            <a:off x="322200" y="1534250"/>
            <a:ext cx="11547600" cy="496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HECBench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Q: Can ParaCodex reliably translate and parallelize small, isolated HPC kernels with clear loop structures?</a:t>
            </a:r>
            <a:br>
              <a:rPr lang="en-US" sz="1500"/>
            </a:b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Used to validate baseline correctness, loop-parallelization quality, and GPU offload stability.</a:t>
            </a:r>
            <a:br>
              <a:rPr lang="en-US" sz="1500"/>
            </a:b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Rodinia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Q: Can ParaCodex handle real, irregular, application-level GPU workloads with complex memory patterns and control divergence?</a:t>
            </a:r>
            <a:br>
              <a:rPr lang="en-US" sz="1500"/>
            </a:b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Tests scalability of the agentic pipeline, robustness on heterogeneous domains, and its ability to match real-world GPU programming idioms.</a:t>
            </a:r>
            <a:br>
              <a:rPr lang="en-US" sz="1500"/>
            </a:b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NAS Parallel Benchmarks (NPB)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Q: Can ParaCodex handle a performance-aware parallel code for classic HPC motifs that stress communication, decomposition, and nested parallel loops?</a:t>
            </a:r>
            <a:br>
              <a:rPr lang="en-US" sz="1500"/>
            </a:b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Evaluates whether the system can achieve high-quality parallelization and offload on canonical scientific kernels used for cluster-level performance studies.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f450249a7_2_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Benchmarks</a:t>
            </a:r>
            <a:endParaRPr/>
          </a:p>
        </p:txBody>
      </p:sp>
      <p:sp>
        <p:nvSpPr>
          <p:cNvPr id="103" name="Google Shape;103;g3af450249a7_2_3"/>
          <p:cNvSpPr txBox="1"/>
          <p:nvPr>
            <p:ph idx="1" type="body"/>
          </p:nvPr>
        </p:nvSpPr>
        <p:spPr>
          <a:xfrm>
            <a:off x="322200" y="1534250"/>
            <a:ext cx="11547600" cy="496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ParEval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Q:Can Codex translate between parallel api’s?</a:t>
            </a:r>
            <a:br>
              <a:rPr lang="en-US" sz="1500"/>
            </a:b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Tested *Codex* on the Pareval kernels to measure the capabilities of codex on translating code between parallel api’s.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 sz="2800"/>
              <a:t>RQ1: Can ParaCodex create correct &amp; optimized parallel code ?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 sz="2800"/>
              <a:t>ANS1: Yes, on 76% of the Hecbench codes </a:t>
            </a:r>
            <a:endParaRPr sz="2800"/>
          </a:p>
        </p:txBody>
      </p:sp>
      <p:pic>
        <p:nvPicPr>
          <p:cNvPr descr="A graph of blue and orange bars&#10;&#10;AI-generated content may be incorrect.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49450"/>
            <a:ext cx="12192000" cy="40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Google Shape;114;p4"/>
          <p:cNvGraphicFramePr/>
          <p:nvPr/>
        </p:nvGraphicFramePr>
        <p:xfrm>
          <a:off x="838200" y="165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{159C674F-2F72-4A0E-AF4C-79DACA61A254}</a:tableStyleId>
              </a:tblPr>
              <a:tblGrid>
                <a:gridCol w="2079350"/>
                <a:gridCol w="2079350"/>
                <a:gridCol w="2079350"/>
                <a:gridCol w="2079350"/>
                <a:gridCol w="2079350"/>
              </a:tblGrid>
              <a:tr h="255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kernel-name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Reference (ms)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candidate-ParaCodex (ms)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Speedup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1-if speedup 0-if not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ace-omp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1271.5508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363.7893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3.4953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atomicCost-omp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3840.8302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2336.4017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1.6439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255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atomicIntrinsics-omp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1.5507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0.9494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1.6334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bsearch-omp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0.0138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0.0053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2.6060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colorwheel-omp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0.0032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0.0033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0.9739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convolution1D-omp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907.2729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1041.9738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0.8707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</a:tr>
              <a:tr h="255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dense-embedding-omp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0.5173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0.8741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0.5918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entropy-omp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0.0895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0.0543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1.6474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geodesic-omp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16.6456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15.6171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1.0659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heat-omp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1194.7852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1198.7119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0.9967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jacobi-omp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27.4342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3.0859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8.8901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keogh-omp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6186.7967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142.5745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43.3934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layout-omp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206.4583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204.9066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1.0076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matrix-rotate-omp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7.6142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1.2917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5.8945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meanshift-omp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nan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80.3619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nan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michalewicz-omp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43.3745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24.4771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1.7720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mixbench-omp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5885.8227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1010.8261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5.8228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particlefilter-omp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46.2105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0.0033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14065.6898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pathfinder-omp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28.3866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0.0010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28625.1526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pool-omp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37.7783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33.8897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1.1147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randomAccess-omp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3631.2508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744.4224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4.8779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stddev-omp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45.7333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2.0915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21.8666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stencil1d-omp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289.0810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336.8094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0.8583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</a:tr>
              <a:tr h="162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vanGenuchten-omp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459.2897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302.2992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1.5193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  <a:tr h="15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winograd-omp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2.6092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1.0968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2.3790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25" marB="27825" marR="41725" marL="41725" anchor="ctr"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 sz="2800"/>
              <a:t>RQ1: Can ParaCodex create correct &amp; optimized parallel code ?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 sz="2800"/>
              <a:t>ANS1: Yes, often by a lot </a:t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f450249a7_2_1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af450249a7_2_12"/>
          <p:cNvSpPr txBox="1"/>
          <p:nvPr/>
        </p:nvSpPr>
        <p:spPr>
          <a:xfrm>
            <a:off x="9192000" y="602812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chrome-extension://efaidnbmnnnibpcajpcglclefindmkaj/https://arxiv.org/pdf/2506.20938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22" name="Google Shape;122;g3af450249a7_2_12"/>
          <p:cNvSpPr txBox="1"/>
          <p:nvPr/>
        </p:nvSpPr>
        <p:spPr>
          <a:xfrm>
            <a:off x="1026150" y="287050"/>
            <a:ext cx="101397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RQ2: </a:t>
            </a:r>
            <a:r>
              <a:rPr lang="en-US" sz="2500">
                <a:solidFill>
                  <a:schemeClr val="lt1"/>
                </a:solidFill>
              </a:rPr>
              <a:t>Can Codex Translate between Parallel API’s ?</a:t>
            </a:r>
            <a:endParaRPr sz="2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ANS2:CUDA TO OMP</a:t>
            </a:r>
            <a:endParaRPr/>
          </a:p>
        </p:txBody>
      </p:sp>
      <p:pic>
        <p:nvPicPr>
          <p:cNvPr id="123" name="Google Shape;123;g3af450249a7_2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50" y="1630950"/>
            <a:ext cx="12117876" cy="33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af450249a7_2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235817"/>
            <a:ext cx="12192001" cy="4792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ef2beff2a_1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aef2beff2a_1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 sz="2800"/>
              <a:t>RQ2: </a:t>
            </a:r>
            <a:r>
              <a:rPr lang="en-US" sz="2500"/>
              <a:t>Can Codex Translate between Parallel API’s ?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 sz="2800"/>
              <a:t>ANS2:CUDA TO OMP</a:t>
            </a:r>
            <a:endParaRPr sz="2800"/>
          </a:p>
        </p:txBody>
      </p:sp>
      <p:pic>
        <p:nvPicPr>
          <p:cNvPr id="131" name="Google Shape;131;g3aef2beff2a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3582"/>
            <a:ext cx="12192000" cy="4441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idx="1" type="body"/>
          </p:nvPr>
        </p:nvSpPr>
        <p:spPr>
          <a:xfrm>
            <a:off x="838189" y="185188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/>
              <a:t>NAS Parallel Benchmarks (NPB)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Developed by NASA to model computational fluid dynamics (CFD) workloads.</a:t>
            </a:r>
            <a:br>
              <a:rPr lang="en-US" sz="1500"/>
            </a:b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Focus on communication patterns, and scalability.</a:t>
            </a:r>
            <a:br>
              <a:rPr lang="en-US" sz="1500"/>
            </a:b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Kernels are compact, synthetic, representing algorithmic motifs (CG, FT, EP, MG).</a:t>
            </a:r>
            <a:br>
              <a:rPr lang="en-US" sz="1500"/>
            </a:b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/>
              <a:t>Rodinia Benchmark Suite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Designed to represent heterogeneous workloads (CPU, GPU, accelerators).</a:t>
            </a:r>
            <a:br>
              <a:rPr lang="en-US" sz="1500"/>
            </a:b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Targets data-parallel applications such as medical imaging, machine learning, graph algorithms, physics simulations.</a:t>
            </a:r>
            <a:br>
              <a:rPr lang="en-US" sz="1500"/>
            </a:b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/>
              <a:t>Focus on real application behavior, memory patterns, and GPU architectural stress.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7" name="Google Shape;137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 sz="2800"/>
              <a:t>RQ3: </a:t>
            </a:r>
            <a:r>
              <a:rPr lang="en-US" sz="2500"/>
              <a:t>Can ParaCodex work with more complex code (NAS, Rodinia) ?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 sz="2800"/>
              <a:t>ANS3: Yes, NAS improvement in 4/4 of the Kernels</a:t>
            </a:r>
            <a:endParaRPr sz="2800"/>
          </a:p>
        </p:txBody>
      </p:sp>
      <p:sp>
        <p:nvSpPr>
          <p:cNvPr id="138" name="Google Shape;138;p7"/>
          <p:cNvSpPr txBox="1"/>
          <p:nvPr/>
        </p:nvSpPr>
        <p:spPr>
          <a:xfrm>
            <a:off x="118775" y="6124726"/>
            <a:ext cx="117696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*complex - Rodinia provides full real-world heterogeneous workloads, and NAS offers compact, standardized pseudo-applications designed to benchmark parallel scalability and algorithmic structure.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f3488b70f_0_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/>
              <a:t>Rodinia Results </a:t>
            </a:r>
            <a:endParaRPr/>
          </a:p>
        </p:txBody>
      </p:sp>
      <p:pic>
        <p:nvPicPr>
          <p:cNvPr id="144" name="Google Shape;144;g3af3488b70f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60475"/>
            <a:ext cx="11887201" cy="44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g3b0ed32a725_0_0"/>
          <p:cNvGraphicFramePr/>
          <p:nvPr/>
        </p:nvGraphicFramePr>
        <p:xfrm>
          <a:off x="90488" y="75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{08386F6D-77C5-472A-8409-89F055A6AA26}</a:tableStyleId>
              </a:tblPr>
              <a:tblGrid>
                <a:gridCol w="1488650"/>
                <a:gridCol w="1189800"/>
                <a:gridCol w="1207750"/>
                <a:gridCol w="1000125"/>
                <a:gridCol w="1276350"/>
                <a:gridCol w="1333500"/>
                <a:gridCol w="942975"/>
                <a:gridCol w="1343025"/>
                <a:gridCol w="1304925"/>
                <a:gridCol w="923925"/>
              </a:tblGrid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Benchmark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Kernel Reference (ms)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Kernel ParaCodex (ms)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Kernel Faster?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GPU Reference (ms)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GPU ParaCodex (ms)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GPU Faster?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Full Reference (ms)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Full ParaCodex (ms)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Full Faster?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b+tree-omp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0.39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0.25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2.06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3.28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0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1349.05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1340.27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hotspot-omp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0.31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0.16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1.95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0.66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1451.85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1146.99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nw-omp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37.83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15.19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45.94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23.52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1370.41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1139.66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srad-omp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403,112.75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204.32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403,116.81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208.24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2,755,297.59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10,712.70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bfs-omp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1.09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0.78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58.96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5.00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2013.15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1695.12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lud-omp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331.48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34.17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332.15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34.85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69,804.71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3886.49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backprop-omp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120.86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0.99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122.78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2.86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1576.15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1022.08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/>
              <a:t>Analysis - CG </a:t>
            </a:r>
            <a:endParaRPr/>
          </a:p>
        </p:txBody>
      </p:sp>
      <p:pic>
        <p:nvPicPr>
          <p:cNvPr descr="A screen shot of a computer&#10;&#10;AI-generated content may be incorrect."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0500" y="1784832"/>
            <a:ext cx="9750999" cy="3599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/>
              <a:t>Analysis - EP </a:t>
            </a:r>
            <a:endParaRPr/>
          </a:p>
        </p:txBody>
      </p:sp>
      <p:pic>
        <p:nvPicPr>
          <p:cNvPr descr="A screenshot of a computer program&#10;&#10;AI-generated content may be incorrect." id="161" name="Google Shape;1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748" y="1690688"/>
            <a:ext cx="10890504" cy="477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/>
              <a:t>Data Plan - EP </a:t>
            </a:r>
            <a:endParaRPr/>
          </a:p>
        </p:txBody>
      </p:sp>
      <p:pic>
        <p:nvPicPr>
          <p:cNvPr descr="A computer screen shot of text&#10;&#10;AI-generated content may be incorrect." id="167" name="Google Shape;1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362" y="1690688"/>
            <a:ext cx="10963275" cy="4429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/>
              <a:t>Data Plan – (FT) </a:t>
            </a:r>
            <a:endParaRPr/>
          </a:p>
        </p:txBody>
      </p:sp>
      <p:pic>
        <p:nvPicPr>
          <p:cNvPr descr="A screenshot of a computer program&#10;&#10;AI-generated content may be incorrect." id="173" name="Google Shape;17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123" y="1690688"/>
            <a:ext cx="11307753" cy="4353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/>
              <a:t>Optimization Plan – (FT) </a:t>
            </a:r>
            <a:endParaRPr/>
          </a:p>
        </p:txBody>
      </p:sp>
      <p:pic>
        <p:nvPicPr>
          <p:cNvPr descr="A screenshot of a computer program&#10;&#10;AI-generated content may be incorrect." id="179" name="Google Shape;17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1467" y="1690688"/>
            <a:ext cx="9069066" cy="4258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/>
              <a:t>Optimization Plan – (MG) </a:t>
            </a:r>
            <a:endParaRPr/>
          </a:p>
        </p:txBody>
      </p:sp>
      <p:pic>
        <p:nvPicPr>
          <p:cNvPr descr="A screen shot of a computer&#10;&#10;AI-generated content may be incorrect." id="185" name="Google Shape;1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" y="1690688"/>
            <a:ext cx="10944225" cy="264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/>
        </p:nvSpPr>
        <p:spPr>
          <a:xfrm>
            <a:off x="3194116" y="1562657"/>
            <a:ext cx="5803768" cy="4930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D6D6D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D6D6DD"/>
                </a:solidFill>
                <a:latin typeface="Consolas"/>
                <a:ea typeface="Consolas"/>
                <a:cs typeface="Consolas"/>
                <a:sym typeface="Consolas"/>
              </a:rPr>
              <a:t># Nsight Systems Performance Metrics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D6D6D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D6D6DD"/>
                </a:solidFill>
                <a:latin typeface="Consolas"/>
                <a:ea typeface="Consolas"/>
                <a:cs typeface="Consolas"/>
                <a:sym typeface="Consolas"/>
              </a:rPr>
              <a:t>## Three Measurement Types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D6D6D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D6D6DD"/>
                </a:solidFill>
                <a:latin typeface="Consolas"/>
                <a:ea typeface="Consolas"/>
                <a:cs typeface="Consolas"/>
                <a:sym typeface="Consolas"/>
              </a:rPr>
              <a:t>### 1️⃣ Kernel-only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[5/7] cuda_gpu_kern_sum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─────────────────────────────────────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 Time (ns)        Name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─────────────────────────────────────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    ...          nvkernel_conj_grad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    ...          nvkernel_other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    ...          nvkernel_small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─────────────────────────────────────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8C76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C762"/>
                </a:solidFill>
                <a:latin typeface="Consolas"/>
                <a:ea typeface="Consolas"/>
                <a:cs typeface="Consolas"/>
                <a:sym typeface="Consolas"/>
              </a:rPr>
              <a:t>**Pure GPU compute time**</a:t>
            </a: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 - Sum of all GPU kernel execution times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D6D6D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D6D6DD"/>
                </a:solidFill>
                <a:latin typeface="Consolas"/>
                <a:ea typeface="Consolas"/>
                <a:cs typeface="Consolas"/>
                <a:sym typeface="Consolas"/>
              </a:rPr>
              <a:t>### 2️⃣ GPU Time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Kernel-only + Memory Transfers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[6/7] cuda_gpu_mem_time_sum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─────────────────────────────────────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 Time (ns)    Operation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─────────────────────────────────────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    ...       [CUDA memcpy HtoD]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    ...       [CUDA memcpy DtoH]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    ...       [CUDA memset]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─────────────────────────────────────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```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8C76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C762"/>
                </a:solidFill>
                <a:latin typeface="Consolas"/>
                <a:ea typeface="Consolas"/>
                <a:cs typeface="Consolas"/>
                <a:sym typeface="Consolas"/>
              </a:rPr>
              <a:t>**GPU-side work**</a:t>
            </a: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 - Compute kernels + GPU memory transfers.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1" name="Google Shape;19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/>
              <a:t>Performance Measurement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 txBox="1"/>
          <p:nvPr/>
        </p:nvSpPr>
        <p:spPr>
          <a:xfrm>
            <a:off x="3048786" y="1843015"/>
            <a:ext cx="6094500" cy="4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D6D6D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D6D6DD"/>
                </a:solidFill>
                <a:latin typeface="Consolas"/>
                <a:ea typeface="Consolas"/>
                <a:cs typeface="Consolas"/>
                <a:sym typeface="Consolas"/>
              </a:rPr>
              <a:t>### 3️⃣ Full Execution Time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```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Kernel + Memory + CUDA API + OS Runtime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[4/7] cuda_api_sum          [3/7] osrt_sum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─────────────────────      ─────────────────────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    ...       sync            ...       poll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    ...       launch          ...       ioctl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─────────────────────      ─────────────────────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8C76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C762"/>
                </a:solidFill>
                <a:latin typeface="Consolas"/>
                <a:ea typeface="Consolas"/>
                <a:cs typeface="Consolas"/>
                <a:sym typeface="Consolas"/>
              </a:rPr>
              <a:t>**Total runtime**</a:t>
            </a: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 - Everything (compute + memory + API overhead + OS calls)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---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D6D6D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D6D6DD"/>
                </a:solidFill>
                <a:latin typeface="Consolas"/>
                <a:ea typeface="Consolas"/>
                <a:cs typeface="Consolas"/>
                <a:sym typeface="Consolas"/>
              </a:rPr>
              <a:t>## Summary</a:t>
            </a:r>
            <a:endParaRPr b="0" i="0" sz="1200" u="none" cap="none" strike="noStrike">
              <a:solidFill>
                <a:srgbClr val="E4E4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| Metric | Components | Use Case |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|--------|-----------|----------|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| </a:t>
            </a:r>
            <a:r>
              <a:rPr b="0" i="0" lang="en-US" sz="1200" u="none" cap="none" strike="noStrike">
                <a:solidFill>
                  <a:srgbClr val="F8C762"/>
                </a:solidFill>
                <a:latin typeface="Consolas"/>
                <a:ea typeface="Consolas"/>
                <a:cs typeface="Consolas"/>
                <a:sym typeface="Consolas"/>
              </a:rPr>
              <a:t>**Kernel-only**</a:t>
            </a: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 | GPU kernels only | Pure compute performance |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| </a:t>
            </a:r>
            <a:r>
              <a:rPr b="0" i="0" lang="en-US" sz="1200" u="none" cap="none" strike="noStrike">
                <a:solidFill>
                  <a:srgbClr val="F8C762"/>
                </a:solidFill>
                <a:latin typeface="Consolas"/>
                <a:ea typeface="Consolas"/>
                <a:cs typeface="Consolas"/>
                <a:sym typeface="Consolas"/>
              </a:rPr>
              <a:t>**GPU Time**</a:t>
            </a: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 | Kernels + Memory | GPU-side|</a:t>
            </a:r>
            <a:endParaRPr/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| </a:t>
            </a:r>
            <a:r>
              <a:rPr b="0" i="0" lang="en-US" sz="1200" u="none" cap="none" strike="noStrike">
                <a:solidFill>
                  <a:srgbClr val="F8C762"/>
                </a:solidFill>
                <a:latin typeface="Consolas"/>
                <a:ea typeface="Consolas"/>
                <a:cs typeface="Consolas"/>
                <a:sym typeface="Consolas"/>
              </a:rPr>
              <a:t>**Full Time**</a:t>
            </a:r>
            <a:r>
              <a:rPr b="0" i="0" lang="en-US" sz="1200" u="none" cap="none" strike="noStrike">
                <a:solidFill>
                  <a:srgbClr val="E4E4E4"/>
                </a:solidFill>
                <a:latin typeface="Consolas"/>
                <a:ea typeface="Consolas"/>
                <a:cs typeface="Consolas"/>
                <a:sym typeface="Consolas"/>
              </a:rPr>
              <a:t> | All components | Full Application|</a:t>
            </a:r>
            <a:endParaRPr/>
          </a:p>
        </p:txBody>
      </p:sp>
      <p:sp>
        <p:nvSpPr>
          <p:cNvPr id="197" name="Google Shape;19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/>
              <a:t>Performance Measurement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 sz="3900"/>
              <a:t>NAS Results [CG, EP, FT, MG] (serial -&gt; OMP)</a:t>
            </a:r>
            <a:endParaRPr sz="3900"/>
          </a:p>
        </p:txBody>
      </p:sp>
      <p:pic>
        <p:nvPicPr>
          <p:cNvPr id="203" name="Google Shape;20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03450"/>
            <a:ext cx="12191998" cy="474133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4"/>
          <p:cNvSpPr txBox="1"/>
          <p:nvPr/>
        </p:nvSpPr>
        <p:spPr>
          <a:xfrm>
            <a:off x="9192000" y="64065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4"/>
              </a:rPr>
              <a:t>http://localhost:8000/results_table.html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2025-12-09T06:06:49Z</dcterms:created>
  <dc:creator>Erel Kaplan</dc:creator>
</cp:coreProperties>
</file>