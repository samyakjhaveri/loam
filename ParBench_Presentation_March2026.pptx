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Count</c:v>
                </c:pt>
              </c:strCache>
            </c:strRef>
          </c:tx>
          <c:spPr>
            <a:solidFill>
              <a:srgbClr val="27AE60"/>
            </a:solidFill>
            <a:effectLst/>
          </c:spPr>
          <c:invertIfNegative val="0"/>
          <c:dLbls>
            <c:numFmt formatCode="#,##0" sourceLinked="0"/>
            <c:txPr>
              <a:bodyPr/>
              <a:lstStyle/>
              <a:p>
                <a:pPr>
                  <a:defRPr b="0" i="0" strike="noStrike" sz="1000" u="none">
                    <a:solidFill>
                      <a:srgbClr val="2C3E50"/>
                    </a:solidFill>
                    <a:latin typeface="Arial"/>
                  </a:defRPr>
                </a:pPr>
              </a:p>
            </c:txPr>
            <c:showLegendKey val="0"/>
            <c:showVal val="1"/>
            <c:showCatName val="0"/>
            <c:showSerName val="0"/>
            <c:showPercent val="0"/>
            <c:showBubbleSize val="0"/>
            <c:showLeaderLines val="0"/>
          </c:dLbls>
          <c:dPt>
            <c:idx val="0"/>
            <c:invertIfNegative val="0"/>
            <c:bubble3D val="0"/>
            <c:spPr>
              <a:solidFill>
                <a:srgbClr val="27AE60"/>
              </a:solidFill>
              <a:effectLst/>
            </c:spPr>
          </c:dPt>
          <c:dPt>
            <c:idx val="1"/>
            <c:invertIfNegative val="0"/>
            <c:bubble3D val="0"/>
            <c:spPr>
              <a:solidFill>
                <a:srgbClr val="E74C3C"/>
              </a:solidFill>
              <a:effectLst/>
            </c:spPr>
          </c:dPt>
          <c:dPt>
            <c:idx val="2"/>
            <c:invertIfNegative val="0"/>
            <c:bubble3D val="0"/>
            <c:spPr>
              <a:solidFill>
                <a:srgbClr val="F39C12"/>
              </a:solidFill>
              <a:effectLst/>
            </c:spPr>
          </c:dPt>
          <c:dPt>
            <c:idx val="3"/>
            <c:invertIfNegative val="0"/>
            <c:bubble3D val="0"/>
            <c:spPr>
              <a:solidFill>
                <a:srgbClr val="E74C3C"/>
              </a:solidFill>
              <a:effectLst/>
            </c:spPr>
          </c:dPt>
          <c:dPt>
            <c:idx val="4"/>
            <c:invertIfNegative val="0"/>
            <c:bubble3D val="0"/>
            <c:spPr>
              <a:solidFill>
                <a:srgbClr val="7F8C8D"/>
              </a:solidFill>
              <a:effectLst/>
            </c:spPr>
          </c:dPt>
          <c:cat>
            <c:multiLvlStrRef>
              <c:f>Sheet1!$A$2:$A$6</c:f>
              <c:multiLvlStrCache>
                <c:ptCount val="5"/>
                <c:lvl>
                  <c:pt idx="0">
                    <c:v>FULL PASS</c:v>
                  </c:pt>
                  <c:pt idx="1">
                    <c:v>VERIFY FAIL</c:v>
                  </c:pt>
                  <c:pt idx="2">
                    <c:v>RUN FAIL/TIMEOUT</c:v>
                  </c:pt>
                  <c:pt idx="3">
                    <c:v>BUILD FAIL</c:v>
                  </c:pt>
                  <c:pt idx="4">
                    <c:v>SKIP</c:v>
                  </c:pt>
                </c:lvl>
              </c:multiLvlStrCache>
            </c:multiLvlStrRef>
          </c:cat>
          <c:val>
            <c:numRef>
              <c:f>Sheet1!$B$2:$B$6</c:f>
              <c:numCache>
                <c:formatCode>General</c:formatCode>
                <c:ptCount val="5"/>
                <c:pt idx="0">
                  <c:v>41</c:v>
                </c:pt>
                <c:pt idx="1">
                  <c:v>9</c:v>
                </c:pt>
                <c:pt idx="2">
                  <c:v>7</c:v>
                </c:pt>
                <c:pt idx="3">
                  <c:v>2</c:v>
                </c:pt>
                <c:pt idx="4">
                  <c:v>1</c:v>
                </c:pt>
              </c:numCache>
            </c:numRef>
          </c:val>
        </c:ser>
        <c:dLbls>
          <c:numFmt formatCode="#,##0" sourceLinked="0"/>
          <c:txPr>
            <a:bodyPr/>
            <a:lstStyle/>
            <a:p>
              <a:pPr>
                <a:defRPr b="0" i="0" strike="noStrike" sz="1000" u="none">
                  <a:solidFill>
                    <a:srgbClr val="2C3E5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C3E5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5F7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everyone. Today I'll walk through what's been accomplished since the February presentation. In short: we've scaled from 5 pilot kernels to 84 kernels across 2 benchmark suites, finalized the schema with Erel, added OpenCL as a third API, and I'll introduce the Four Pillars framework that structures our next phase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for context. The February presentation covered Phases 1-5: survey of 35 repos, schema design, harness implementation, and pilot testing on 5 HeCBench kernels. All of that infrastructure is still in use — everything new builds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Four major areas of progress since February: (1) schema finalization with Erel, (2) scaling HeCBench from 5 to 60 kernels, (3) adding Rodinia as a second benchmark suite with OpenCL support, (4) defining the Four Pillars framework for the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was finalized after conversations with Erel about what ParCodex needs. Key changes: added the category enum to manifest, tightened the unique_id regex to enforce slugification, and added the manifest_schema.json for Level 1 validation. Both schemas use JSON Schema draft-07. The spec schema validates all 11 sections of the Level 2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scale-up since February. We went from 5 pilot kernels to 60 HeCBench kernels, each with CUDA and OpenMP variants — 120 specs total. All done in 3 batches of 20 kernels each. CUDA pass rate stayed at 100%. OMP pass rate improved from 40% to 68% as we added more diverse kernels — the OMP failures are consistently GPU-assumption issues in HeCBench source, not spec or harness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60 CUDA kernels passed every stage: build, run, and verification. This is a clean 100% pass rate. The kernels span diverse categories — crypto (aes, chacha20), physics (ising, heat2d, lulesh), ML (geglu, rmsnorm, softmax-online), linear algebra (gaussian, lud), and more. Build times ranged from 0.56s to 126s (secp256k1 is an outlier due to its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OpenMP results: 41/60 pass. The 19 failures break down into 9 verify failures (wrong output), 7 run failures or timeouts, 2 build failures, and 1 skip. The critical point: none of these are our bugs. They're all GPU-assumption issues in the HeCBench source — warp-synchronous code, GPU memory model assumptions, thread count mismatches. This is actually valuable data for the LLM evaluation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failure analysis. The 9 verify failures are the most interesting — the code compiles and runs, but produces wrong output because of GPU-specific assumptions. The segfaults (4) are warp-synchronous code that creates data races on CPU. Timeouts (3) are algorithms that are O(n) on GPU but become impractical on CPU. Build failures and skips (3) are just incomplete HeCBench ports — not interesting from a portability perspective. For the paper, the verify failures and segfaults are the most valuable: they represent exactly the kind of portability bugs an LLM would need to detect and fix during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Rodinia. This is a major expansion — we now support a second benchmark suite and a third API (OpenCL). Rodinia is a classic GPU benchmark suite used widely in HPC research. Adding it demonstrates that ParBench is truly suite-agnostic.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Rodinia adds 24 unique kernels with 63 specs across 3 APIs. The big news is OpenCL support — this is the first time we have a third API in ParBench. 6 kernels overlap with HeCBench (backprop, gaussian, lud, nn, nw, pathfinder), which gives us cross-suite comparison data. The spec generator script (generate_rodinia_specs.py) automates spec creation from the Rodinia directory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coverage matrix for all 23 Rodinia kernels we generated specs for (rng excluded — only has a non-standard API). CUDA has the best coverage at 23/24, OpenCL is 21/24, OpenMP is 19/24. The 6 HeCBench overlaps (marked with warning triangles) let us compare specs from different source implementations of the same algorithm. This is valuable for evaluating whether an LLM can recognize that two different source bases implement the same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analysis maps exactly which variants are missing. 2 kernels lack OpenCL, 4 lack OpenMP. huffman is the worst case — only has CUDA. These gaps are addressed by the Creation pillar of our framework — using AI to generate the missing API variants from existing source code. This is different from Augmentation, which transforms existing code with static rules to prevent contamination.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scale of ParBench today: 180 specs across 84 unique kernels, 3 APIs, and 2 benchmark suites. This is a 9x increase from the 20 pilot specs in February. Notably, OpenCL is entirely from Rodinia — HeCBench kernels don't have OpenCL specs yet. The table shows the per-suite breakdown. This gives us a rich corpus for LLM evaluation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Four Pillars framework — this is how we structure the next phase of work. Rather than a single 'augmentation engine,' the benchmark has four distinct activities: Curation, Creation, Augmentation, and Validation. Each has a different owner and different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Pillars framework structures our work into four distinct activities. Curation is largely done — that's the 84 kernels and 180 specs we've built. Creation uses AI to generate missing API variants, filling the gaps identified in the coverage matrix. Augmentation is Tom's domain — static, rule-based transforms (variable renaming, reordering) to prevent training-data contamination. Critically, augmentation is NOT AI — it's deterministic tools. Validation is the runtime correctness pipeline via Erel's ParCodex harness, with Leon adding variable comparison support. The key distinction to remember: Creation = AI generates NEW code, Augmentation = static tools transform EXISTING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Rodinia testing pipeline is designed and ready to execute. We need to: download the shared data directory, configure the build environment for Rodinia's make.config system, then run the same build→run→verify pipeline we proved on HeCBench. Also worth noting: Erel and Gal now have collaborator access to the GitHub repo, enabling direct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open questions for the team. First: paper venue and timeline — Gal outlined the paper scope as a benchmark paper covering all four pillars plus comparisons between coding agents. Second: which LLMs and coding agents to compare — Le will send evaluation metrics to guide this. Third: should we expand beyond HeCBench + Rodinia, or is two suites sufficient for the paper? Fourth: compute resources — Gal is proposing allocation on the Technion supercomputer for large-scale evaluation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with team assignments. Tom takes augmentation (static transforms, not AI). Erel and Leon handle validation — Leon is adding variable comparison to the ParCodex harness. Le is defining evaluation metrics for LLM translation quality. Gal is working on compute resource proposals for the Technion supercomputer. Tomer has a supporting role with latent guidance. I'm handling the Rodinia testing pipeline, Creation pillar prototype, and running initial LLM evaluation experiments. Bottom stats: 180 specs, 84 kernels, 3 APIs, 2 suites. Thank you —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1C40F"/>
          </a:solidFill>
          <a:ln/>
        </p:spPr>
      </p:sp>
      <p:sp>
        <p:nvSpPr>
          <p:cNvPr id="3" name="Text 1"/>
          <p:cNvSpPr/>
          <p:nvPr/>
        </p:nvSpPr>
        <p:spPr>
          <a:xfrm>
            <a:off x="731520" y="914400"/>
            <a:ext cx="7680960" cy="9144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ParBench</a:t>
            </a:r>
            <a:endParaRPr lang="en-US" sz="4800" dirty="0"/>
          </a:p>
        </p:txBody>
      </p:sp>
      <p:sp>
        <p:nvSpPr>
          <p:cNvPr id="4" name="Text 2"/>
          <p:cNvSpPr/>
          <p:nvPr/>
        </p:nvSpPr>
        <p:spPr>
          <a:xfrm>
            <a:off x="731520" y="1828800"/>
            <a:ext cx="7680960" cy="54864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Progress Update — March 2026</a:t>
            </a:r>
            <a:endParaRPr lang="en-US" sz="2200" dirty="0"/>
          </a:p>
        </p:txBody>
      </p:sp>
      <p:sp>
        <p:nvSpPr>
          <p:cNvPr id="5" name="Shape 3"/>
          <p:cNvSpPr/>
          <p:nvPr/>
        </p:nvSpPr>
        <p:spPr>
          <a:xfrm>
            <a:off x="731520" y="2606040"/>
            <a:ext cx="3200400" cy="36576"/>
          </a:xfrm>
          <a:prstGeom prst="rect">
            <a:avLst/>
          </a:prstGeom>
          <a:solidFill>
            <a:srgbClr val="F1C40F"/>
          </a:solidFill>
          <a:ln/>
        </p:spPr>
      </p:sp>
      <p:sp>
        <p:nvSpPr>
          <p:cNvPr id="6" name="Text 4"/>
          <p:cNvSpPr/>
          <p:nvPr/>
        </p:nvSpPr>
        <p:spPr>
          <a:xfrm>
            <a:off x="731520" y="2834640"/>
            <a:ext cx="7680960" cy="45720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A Meta-Benchmark for LLM-Based Parallel Code Translation</a:t>
            </a:r>
            <a:endParaRPr lang="en-US" sz="1400" dirty="0"/>
          </a:p>
        </p:txBody>
      </p:sp>
      <p:sp>
        <p:nvSpPr>
          <p:cNvPr id="7" name="Text 5"/>
          <p:cNvSpPr/>
          <p:nvPr/>
        </p:nvSpPr>
        <p:spPr>
          <a:xfrm>
            <a:off x="731520" y="3840480"/>
            <a:ext cx="7680960" cy="365760"/>
          </a:xfrm>
          <a:prstGeom prst="rect">
            <a:avLst/>
          </a:prstGeom>
          <a:noFill/>
          <a:ln/>
        </p:spPr>
        <p:txBody>
          <a:bodyPr wrap="square" lIns="0" tIns="0" rIns="0" bIns="0" rtlCol="0" anchor="ctr"/>
          <a:lstStyle/>
          <a:p>
            <a:pPr indent="0" marL="0">
              <a:buNone/>
            </a:pPr>
            <a:r>
              <a:rPr lang="en-US" sz="1300" dirty="0">
                <a:solidFill>
                  <a:srgbClr val="7F8C8D"/>
                </a:solidFill>
                <a:latin typeface="Calibri" pitchFamily="34" charset="0"/>
                <a:ea typeface="Calibri" pitchFamily="34" charset="-122"/>
                <a:cs typeface="Calibri" pitchFamily="34" charset="-120"/>
              </a:rPr>
              <a:t>Sam Jhaveri  |  Research Group Meeting</a:t>
            </a:r>
            <a:endParaRPr lang="en-US" sz="1300" dirty="0"/>
          </a:p>
        </p:txBody>
      </p:sp>
      <p:sp>
        <p:nvSpPr>
          <p:cNvPr id="8" name="Text 6"/>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 / 18</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Recap: What We Proved in February</a:t>
            </a:r>
            <a:endParaRPr lang="en-US" sz="2800" dirty="0"/>
          </a:p>
        </p:txBody>
      </p:sp>
      <p:sp>
        <p:nvSpPr>
          <p:cNvPr id="3" name="Shape 1"/>
          <p:cNvSpPr/>
          <p:nvPr/>
        </p:nvSpPr>
        <p:spPr>
          <a:xfrm>
            <a:off x="457200" y="1051560"/>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1051560"/>
            <a:ext cx="54864" cy="640080"/>
          </a:xfrm>
          <a:prstGeom prst="rect">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685800" y="1161288"/>
            <a:ext cx="365760" cy="365760"/>
          </a:xfrm>
          <a:prstGeom prst="rect">
            <a:avLst/>
          </a:prstGeom>
        </p:spPr>
      </p:pic>
      <p:sp>
        <p:nvSpPr>
          <p:cNvPr id="6" name="Text 3"/>
          <p:cNvSpPr/>
          <p:nvPr/>
        </p:nvSpPr>
        <p:spPr>
          <a:xfrm>
            <a:off x="1188720" y="1097280"/>
            <a:ext cx="2011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Schema Works</a:t>
            </a:r>
            <a:endParaRPr lang="en-US" sz="1400" dirty="0"/>
          </a:p>
        </p:txBody>
      </p:sp>
      <p:sp>
        <p:nvSpPr>
          <p:cNvPr id="7" name="Text 4"/>
          <p:cNvSpPr/>
          <p:nvPr/>
        </p:nvSpPr>
        <p:spPr>
          <a:xfrm>
            <a:off x="3200400" y="1097280"/>
            <a:ext cx="5303520" cy="548640"/>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Two-level metadata (manifest + spec) drives automated build/run/verify</a:t>
            </a:r>
            <a:endParaRPr lang="en-US" sz="1200" dirty="0"/>
          </a:p>
        </p:txBody>
      </p:sp>
      <p:sp>
        <p:nvSpPr>
          <p:cNvPr id="8" name="Shape 5"/>
          <p:cNvSpPr/>
          <p:nvPr/>
        </p:nvSpPr>
        <p:spPr>
          <a:xfrm>
            <a:off x="457200" y="1801368"/>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57200" y="1801368"/>
            <a:ext cx="54864" cy="640080"/>
          </a:xfrm>
          <a:prstGeom prst="rect">
            <a:avLst/>
          </a:prstGeom>
          <a:solidFill>
            <a:srgbClr val="1E2761"/>
          </a:solidFill>
          <a:ln/>
        </p:spPr>
      </p:sp>
      <p:pic>
        <p:nvPicPr>
          <p:cNvPr id="10" name="Image 1" descr="preencoded.png">    </p:cNvPr>
          <p:cNvPicPr>
            <a:picLocks noChangeAspect="1"/>
          </p:cNvPicPr>
          <p:nvPr/>
        </p:nvPicPr>
        <p:blipFill>
          <a:blip r:embed="rId2"/>
          <a:stretch>
            <a:fillRect/>
          </a:stretch>
        </p:blipFill>
        <p:spPr>
          <a:xfrm>
            <a:off x="685800" y="1911096"/>
            <a:ext cx="365760" cy="365760"/>
          </a:xfrm>
          <a:prstGeom prst="rect">
            <a:avLst/>
          </a:prstGeom>
        </p:spPr>
      </p:pic>
      <p:sp>
        <p:nvSpPr>
          <p:cNvPr id="11" name="Text 7"/>
          <p:cNvSpPr/>
          <p:nvPr/>
        </p:nvSpPr>
        <p:spPr>
          <a:xfrm>
            <a:off x="1188720" y="1847088"/>
            <a:ext cx="2011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Harness Proven</a:t>
            </a:r>
            <a:endParaRPr lang="en-US" sz="1400" dirty="0"/>
          </a:p>
        </p:txBody>
      </p:sp>
      <p:sp>
        <p:nvSpPr>
          <p:cNvPr id="12" name="Text 8"/>
          <p:cNvSpPr/>
          <p:nvPr/>
        </p:nvSpPr>
        <p:spPr>
          <a:xfrm>
            <a:off x="3200400" y="1847088"/>
            <a:ext cx="5303520" cy="548640"/>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1,366-line Python CLI tested end-to-end on real hardware</a:t>
            </a:r>
            <a:endParaRPr lang="en-US" sz="1200" dirty="0"/>
          </a:p>
        </p:txBody>
      </p:sp>
      <p:sp>
        <p:nvSpPr>
          <p:cNvPr id="13" name="Shape 9"/>
          <p:cNvSpPr/>
          <p:nvPr/>
        </p:nvSpPr>
        <p:spPr>
          <a:xfrm>
            <a:off x="457200" y="2551176"/>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0"/>
          <p:cNvSpPr/>
          <p:nvPr/>
        </p:nvSpPr>
        <p:spPr>
          <a:xfrm>
            <a:off x="457200" y="2551176"/>
            <a:ext cx="54864" cy="640080"/>
          </a:xfrm>
          <a:prstGeom prst="rect">
            <a:avLst/>
          </a:prstGeom>
          <a:solidFill>
            <a:srgbClr val="1E2761"/>
          </a:solidFill>
          <a:ln/>
        </p:spPr>
      </p:sp>
      <p:pic>
        <p:nvPicPr>
          <p:cNvPr id="15" name="Image 2" descr="preencoded.png">    </p:cNvPr>
          <p:cNvPicPr>
            <a:picLocks noChangeAspect="1"/>
          </p:cNvPicPr>
          <p:nvPr/>
        </p:nvPicPr>
        <p:blipFill>
          <a:blip r:embed="rId3"/>
          <a:stretch>
            <a:fillRect/>
          </a:stretch>
        </p:blipFill>
        <p:spPr>
          <a:xfrm>
            <a:off x="685800" y="2660904"/>
            <a:ext cx="365760" cy="365760"/>
          </a:xfrm>
          <a:prstGeom prst="rect">
            <a:avLst/>
          </a:prstGeom>
        </p:spPr>
      </p:pic>
      <p:sp>
        <p:nvSpPr>
          <p:cNvPr id="16" name="Text 11"/>
          <p:cNvSpPr/>
          <p:nvPr/>
        </p:nvSpPr>
        <p:spPr>
          <a:xfrm>
            <a:off x="1188720" y="2596896"/>
            <a:ext cx="2011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Pilot Validated</a:t>
            </a:r>
            <a:endParaRPr lang="en-US" sz="1400" dirty="0"/>
          </a:p>
        </p:txBody>
      </p:sp>
      <p:sp>
        <p:nvSpPr>
          <p:cNvPr id="17" name="Text 12"/>
          <p:cNvSpPr/>
          <p:nvPr/>
        </p:nvSpPr>
        <p:spPr>
          <a:xfrm>
            <a:off x="3200400" y="2596896"/>
            <a:ext cx="5303520" cy="548640"/>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5 kernels, 20 specs, 60 translation pairs — 7/10 passing E2E</a:t>
            </a:r>
            <a:endParaRPr lang="en-US" sz="1200" dirty="0"/>
          </a:p>
        </p:txBody>
      </p:sp>
      <p:sp>
        <p:nvSpPr>
          <p:cNvPr id="18" name="Shape 13"/>
          <p:cNvSpPr/>
          <p:nvPr/>
        </p:nvSpPr>
        <p:spPr>
          <a:xfrm>
            <a:off x="457200" y="3300984"/>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4"/>
          <p:cNvSpPr/>
          <p:nvPr/>
        </p:nvSpPr>
        <p:spPr>
          <a:xfrm>
            <a:off x="457200" y="3300984"/>
            <a:ext cx="54864" cy="640080"/>
          </a:xfrm>
          <a:prstGeom prst="rect">
            <a:avLst/>
          </a:prstGeom>
          <a:solidFill>
            <a:srgbClr val="1E2761"/>
          </a:solidFill>
          <a:ln/>
        </p:spPr>
      </p:sp>
      <p:pic>
        <p:nvPicPr>
          <p:cNvPr id="20" name="Image 3" descr="preencoded.png">    </p:cNvPr>
          <p:cNvPicPr>
            <a:picLocks noChangeAspect="1"/>
          </p:cNvPicPr>
          <p:nvPr/>
        </p:nvPicPr>
        <p:blipFill>
          <a:blip r:embed="rId4"/>
          <a:stretch>
            <a:fillRect/>
          </a:stretch>
        </p:blipFill>
        <p:spPr>
          <a:xfrm>
            <a:off x="685800" y="3410712"/>
            <a:ext cx="365760" cy="365760"/>
          </a:xfrm>
          <a:prstGeom prst="rect">
            <a:avLst/>
          </a:prstGeom>
        </p:spPr>
      </p:pic>
      <p:sp>
        <p:nvSpPr>
          <p:cNvPr id="21" name="Text 15"/>
          <p:cNvSpPr/>
          <p:nvPr/>
        </p:nvSpPr>
        <p:spPr>
          <a:xfrm>
            <a:off x="1188720" y="3346704"/>
            <a:ext cx="2011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Failures Informative</a:t>
            </a:r>
            <a:endParaRPr lang="en-US" sz="1400" dirty="0"/>
          </a:p>
        </p:txBody>
      </p:sp>
      <p:sp>
        <p:nvSpPr>
          <p:cNvPr id="22" name="Text 16"/>
          <p:cNvSpPr/>
          <p:nvPr/>
        </p:nvSpPr>
        <p:spPr>
          <a:xfrm>
            <a:off x="3200400" y="3346704"/>
            <a:ext cx="5303520" cy="548640"/>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GPU→CPU portability defects reveal real LLM translation challenges</a:t>
            </a:r>
            <a:endParaRPr lang="en-US" sz="1200" dirty="0"/>
          </a:p>
        </p:txBody>
      </p:sp>
      <p:sp>
        <p:nvSpPr>
          <p:cNvPr id="23" name="Shape 17"/>
          <p:cNvSpPr/>
          <p:nvPr/>
        </p:nvSpPr>
        <p:spPr>
          <a:xfrm>
            <a:off x="457200" y="4050792"/>
            <a:ext cx="8229600" cy="640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18"/>
          <p:cNvSpPr/>
          <p:nvPr/>
        </p:nvSpPr>
        <p:spPr>
          <a:xfrm>
            <a:off x="457200" y="4050792"/>
            <a:ext cx="54864" cy="640080"/>
          </a:xfrm>
          <a:prstGeom prst="rect">
            <a:avLst/>
          </a:prstGeom>
          <a:solidFill>
            <a:srgbClr val="1E2761"/>
          </a:solidFill>
          <a:ln/>
        </p:spPr>
      </p:sp>
      <p:pic>
        <p:nvPicPr>
          <p:cNvPr id="25" name="Image 4" descr="preencoded.png">    </p:cNvPr>
          <p:cNvPicPr>
            <a:picLocks noChangeAspect="1"/>
          </p:cNvPicPr>
          <p:nvPr/>
        </p:nvPicPr>
        <p:blipFill>
          <a:blip r:embed="rId5"/>
          <a:stretch>
            <a:fillRect/>
          </a:stretch>
        </p:blipFill>
        <p:spPr>
          <a:xfrm>
            <a:off x="685800" y="4160520"/>
            <a:ext cx="365760" cy="365760"/>
          </a:xfrm>
          <a:prstGeom prst="rect">
            <a:avLst/>
          </a:prstGeom>
        </p:spPr>
      </p:pic>
      <p:sp>
        <p:nvSpPr>
          <p:cNvPr id="26" name="Text 19"/>
          <p:cNvSpPr/>
          <p:nvPr/>
        </p:nvSpPr>
        <p:spPr>
          <a:xfrm>
            <a:off x="1188720" y="4096512"/>
            <a:ext cx="2011680" cy="5486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Scale Ready</a:t>
            </a:r>
            <a:endParaRPr lang="en-US" sz="1400" dirty="0"/>
          </a:p>
        </p:txBody>
      </p:sp>
      <p:sp>
        <p:nvSpPr>
          <p:cNvPr id="27" name="Text 20"/>
          <p:cNvSpPr/>
          <p:nvPr/>
        </p:nvSpPr>
        <p:spPr>
          <a:xfrm>
            <a:off x="3200400" y="4096512"/>
            <a:ext cx="5303520" cy="548640"/>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Architecture designed for 500+ kernels with zero code changes</a:t>
            </a:r>
            <a:endParaRPr lang="en-US" sz="1200" dirty="0"/>
          </a:p>
        </p:txBody>
      </p:sp>
      <p:sp>
        <p:nvSpPr>
          <p:cNvPr id="28" name="Text 21"/>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February 2026 presentation (analysis/reports/ParBench_Presentation.pptx)</a:t>
            </a:r>
            <a:endParaRPr lang="en-US" sz="800" dirty="0"/>
          </a:p>
        </p:txBody>
      </p:sp>
      <p:sp>
        <p:nvSpPr>
          <p:cNvPr id="29" name="Text 22"/>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2011680"/>
            <a:ext cx="9144000" cy="54864"/>
          </a:xfrm>
          <a:prstGeom prst="rect">
            <a:avLst/>
          </a:prstGeom>
          <a:solidFill>
            <a:srgbClr val="F1C40F"/>
          </a:solidFill>
          <a:ln/>
        </p:spPr>
      </p:sp>
      <p:sp>
        <p:nvSpPr>
          <p:cNvPr id="3" name="Text 1"/>
          <p:cNvSpPr/>
          <p:nvPr/>
        </p:nvSpPr>
        <p:spPr>
          <a:xfrm>
            <a:off x="731520" y="1097280"/>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What's New Since February</a:t>
            </a:r>
            <a:endParaRPr lang="en-US" sz="3800" dirty="0"/>
          </a:p>
        </p:txBody>
      </p:sp>
      <p:sp>
        <p:nvSpPr>
          <p:cNvPr id="4" name="Text 2"/>
          <p:cNvSpPr/>
          <p:nvPr/>
        </p:nvSpPr>
        <p:spPr>
          <a:xfrm>
            <a:off x="731520" y="2377440"/>
            <a:ext cx="768096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Schema finalization, HeCBench scale-up, Rodinia onboarding, and the Four Pillars framework</a:t>
            </a:r>
            <a:endParaRPr lang="en-US" sz="16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3 / 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Schema Finalization</a:t>
            </a:r>
            <a:endParaRPr lang="en-US" sz="2800" dirty="0"/>
          </a:p>
        </p:txBody>
      </p:sp>
      <p:sp>
        <p:nvSpPr>
          <p:cNvPr id="3" name="Text 1"/>
          <p:cNvSpPr/>
          <p:nvPr/>
        </p:nvSpPr>
        <p:spPr>
          <a:xfrm>
            <a:off x="457200" y="822960"/>
            <a:ext cx="8229600" cy="411480"/>
          </a:xfrm>
          <a:prstGeom prst="rect">
            <a:avLst/>
          </a:prstGeom>
          <a:noFill/>
          <a:ln/>
        </p:spPr>
        <p:txBody>
          <a:bodyPr wrap="square" lIns="0" tIns="0" rIns="0" bIns="0" rtlCol="0" anchor="ctr"/>
          <a:lstStyle/>
          <a:p>
            <a:pPr indent="0" marL="0">
              <a:buNone/>
            </a:pPr>
            <a:r>
              <a:rPr lang="en-US" sz="1300" dirty="0">
                <a:solidFill>
                  <a:srgbClr val="5D6D7E"/>
                </a:solidFill>
                <a:latin typeface="Calibri" pitchFamily="34" charset="0"/>
                <a:ea typeface="Calibri" pitchFamily="34" charset="-122"/>
                <a:cs typeface="Calibri" pitchFamily="34" charset="-120"/>
              </a:rPr>
              <a:t>Incorporated feedback from Erel (ParCodex harness) to produce the production v1.0.0 schema</a:t>
            </a:r>
            <a:endParaRPr lang="en-US" sz="1300" dirty="0"/>
          </a:p>
        </p:txBody>
      </p:sp>
      <p:sp>
        <p:nvSpPr>
          <p:cNvPr id="4" name="Shape 2"/>
          <p:cNvSpPr/>
          <p:nvPr/>
        </p:nvSpPr>
        <p:spPr>
          <a:xfrm>
            <a:off x="457200" y="1371600"/>
            <a:ext cx="374904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1371600"/>
            <a:ext cx="3749040" cy="457200"/>
          </a:xfrm>
          <a:prstGeom prst="rect">
            <a:avLst/>
          </a:prstGeom>
          <a:solidFill>
            <a:srgbClr val="1E2761"/>
          </a:solidFill>
          <a:ln/>
        </p:spPr>
      </p:sp>
      <p:sp>
        <p:nvSpPr>
          <p:cNvPr id="6" name="Text 4"/>
          <p:cNvSpPr/>
          <p:nvPr/>
        </p:nvSpPr>
        <p:spPr>
          <a:xfrm>
            <a:off x="640080" y="1371600"/>
            <a:ext cx="338328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spec_schema.json (Level 2)</a:t>
            </a:r>
            <a:endParaRPr lang="en-US" sz="1300" dirty="0"/>
          </a:p>
        </p:txBody>
      </p:sp>
      <p:sp>
        <p:nvSpPr>
          <p:cNvPr id="7" name="Text 5"/>
          <p:cNvSpPr/>
          <p:nvPr/>
        </p:nvSpPr>
        <p:spPr>
          <a:xfrm>
            <a:off x="640080" y="1965960"/>
            <a:ext cx="3383280" cy="2286000"/>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identity: unique_id, kernel_name, api, suite</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provenance: repo URL, pinned commit, license</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files: prompt_payload, support, verification_only</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build: system, commands, env variables</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run: executable, args, timeout</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verification: strategies, tolerance</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performance: metric extraction patterns</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hardware: target device, requirements</a:t>
            </a:r>
            <a:endParaRPr lang="en-US" sz="1000" dirty="0"/>
          </a:p>
          <a:p>
            <a:pPr marL="342900" indent="-342900">
              <a:spcAft>
                <a:spcPts val="200"/>
              </a:spcAft>
              <a:buSzPct val="100000"/>
              <a:buChar char="•"/>
            </a:pPr>
            <a:r>
              <a:rPr lang="en-US" sz="1000" dirty="0">
                <a:solidFill>
                  <a:srgbClr val="2C3E50"/>
                </a:solidFill>
                <a:latin typeface="Calibri" pitchFamily="34" charset="0"/>
                <a:ea typeface="Calibri" pitchFamily="34" charset="-122"/>
                <a:cs typeface="Calibri" pitchFamily="34" charset="-120"/>
              </a:rPr>
              <a:t>baseline_results: populated after benchmarking</a:t>
            </a:r>
            <a:endParaRPr lang="en-US" sz="1000" dirty="0"/>
          </a:p>
        </p:txBody>
      </p:sp>
      <p:sp>
        <p:nvSpPr>
          <p:cNvPr id="8" name="Shape 6"/>
          <p:cNvSpPr/>
          <p:nvPr/>
        </p:nvSpPr>
        <p:spPr>
          <a:xfrm>
            <a:off x="4572000" y="1371600"/>
            <a:ext cx="4114800" cy="30175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572000" y="1371600"/>
            <a:ext cx="4114800" cy="457200"/>
          </a:xfrm>
          <a:prstGeom prst="rect">
            <a:avLst/>
          </a:prstGeom>
          <a:solidFill>
            <a:srgbClr val="3B5998"/>
          </a:solidFill>
          <a:ln/>
        </p:spPr>
      </p:sp>
      <p:sp>
        <p:nvSpPr>
          <p:cNvPr id="10" name="Text 8"/>
          <p:cNvSpPr/>
          <p:nvPr/>
        </p:nvSpPr>
        <p:spPr>
          <a:xfrm>
            <a:off x="4754880" y="1371600"/>
            <a:ext cx="37490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manifest_schema.json (Level 1)</a:t>
            </a:r>
            <a:endParaRPr lang="en-US" sz="1300" dirty="0"/>
          </a:p>
        </p:txBody>
      </p:sp>
      <p:sp>
        <p:nvSpPr>
          <p:cNvPr id="11" name="Text 9"/>
          <p:cNvSpPr/>
          <p:nvPr/>
        </p:nvSpPr>
        <p:spPr>
          <a:xfrm>
            <a:off x="4754880" y="1965960"/>
            <a:ext cx="3749040" cy="22860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kernel_name: pairing key across APIs</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parallel_api: cuda | omp | opencl | hip | sycl</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source_suite: hecbench | rodinia | ...</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spec_file: path to Level 2 spec</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source_dir: relative to downloads_root</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category: ml, physics, stencil, sort, ...</a:t>
            </a:r>
            <a:endParaRPr lang="en-US" sz="1000" dirty="0"/>
          </a:p>
        </p:txBody>
      </p:sp>
      <p:sp>
        <p:nvSpPr>
          <p:cNvPr id="12" name="Shape 10"/>
          <p:cNvSpPr/>
          <p:nvPr/>
        </p:nvSpPr>
        <p:spPr>
          <a:xfrm>
            <a:off x="457200" y="4526280"/>
            <a:ext cx="8229600" cy="27432"/>
          </a:xfrm>
          <a:prstGeom prst="rect">
            <a:avLst/>
          </a:prstGeom>
          <a:solidFill>
            <a:srgbClr val="F1C40F"/>
          </a:solidFill>
          <a:ln/>
        </p:spPr>
      </p:sp>
      <p:sp>
        <p:nvSpPr>
          <p:cNvPr id="13" name="Text 11"/>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schema/spec_schema.json, schema/manifest_schema.json</a:t>
            </a:r>
            <a:endParaRPr lang="en-US" sz="800" dirty="0"/>
          </a:p>
        </p:txBody>
      </p:sp>
      <p:sp>
        <p:nvSpPr>
          <p:cNvPr id="14" name="Text 12"/>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4 / 18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HeCBench Scale-Up: 5 → 60 Kernels</a:t>
            </a:r>
            <a:endParaRPr lang="en-US" sz="2800" dirty="0"/>
          </a:p>
        </p:txBody>
      </p:sp>
      <p:sp>
        <p:nvSpPr>
          <p:cNvPr id="3" name="Shape 1"/>
          <p:cNvSpPr/>
          <p:nvPr/>
        </p:nvSpPr>
        <p:spPr>
          <a:xfrm>
            <a:off x="457200" y="1005840"/>
            <a:ext cx="192024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Text 2"/>
          <p:cNvSpPr/>
          <p:nvPr/>
        </p:nvSpPr>
        <p:spPr>
          <a:xfrm>
            <a:off x="457200" y="1051560"/>
            <a:ext cx="1920240" cy="731520"/>
          </a:xfrm>
          <a:prstGeom prst="rect">
            <a:avLst/>
          </a:prstGeom>
          <a:noFill/>
          <a:ln/>
        </p:spPr>
        <p:txBody>
          <a:bodyPr wrap="square" lIns="0" tIns="0" rIns="0" bIns="0" rtlCol="0" anchor="ctr"/>
          <a:lstStyle/>
          <a:p>
            <a:pPr algn="ctr" indent="0" marL="0">
              <a:buNone/>
            </a:pPr>
            <a:r>
              <a:rPr lang="en-US" sz="4200" b="1" dirty="0">
                <a:solidFill>
                  <a:srgbClr val="1E2761"/>
                </a:solidFill>
                <a:latin typeface="Georgia" pitchFamily="34" charset="0"/>
                <a:ea typeface="Georgia" pitchFamily="34" charset="-122"/>
                <a:cs typeface="Georgia" pitchFamily="34" charset="-120"/>
              </a:rPr>
              <a:t>60</a:t>
            </a:r>
            <a:endParaRPr lang="en-US" sz="4200" dirty="0"/>
          </a:p>
        </p:txBody>
      </p:sp>
      <p:sp>
        <p:nvSpPr>
          <p:cNvPr id="5" name="Text 3"/>
          <p:cNvSpPr/>
          <p:nvPr/>
        </p:nvSpPr>
        <p:spPr>
          <a:xfrm>
            <a:off x="457200" y="1737360"/>
            <a:ext cx="1920240" cy="365760"/>
          </a:xfrm>
          <a:prstGeom prst="rect">
            <a:avLst/>
          </a:prstGeom>
          <a:noFill/>
          <a:ln/>
        </p:spPr>
        <p:txBody>
          <a:bodyPr wrap="square" lIns="0" tIns="0" rIns="0" bIns="0" rtlCol="0" anchor="ctr"/>
          <a:lstStyle/>
          <a:p>
            <a:pPr algn="ctr" indent="0" marL="0">
              <a:buNone/>
            </a:pPr>
            <a:r>
              <a:rPr lang="en-US" sz="1200" dirty="0">
                <a:solidFill>
                  <a:srgbClr val="5D6D7E"/>
                </a:solidFill>
                <a:latin typeface="Calibri" pitchFamily="34" charset="0"/>
                <a:ea typeface="Calibri" pitchFamily="34" charset="-122"/>
                <a:cs typeface="Calibri" pitchFamily="34" charset="-120"/>
              </a:rPr>
              <a:t>Kernels</a:t>
            </a:r>
            <a:endParaRPr lang="en-US" sz="1200" dirty="0"/>
          </a:p>
        </p:txBody>
      </p:sp>
      <p:sp>
        <p:nvSpPr>
          <p:cNvPr id="6" name="Shape 4"/>
          <p:cNvSpPr/>
          <p:nvPr/>
        </p:nvSpPr>
        <p:spPr>
          <a:xfrm>
            <a:off x="2606040" y="1005840"/>
            <a:ext cx="192024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2606040" y="1051560"/>
            <a:ext cx="1920240" cy="731520"/>
          </a:xfrm>
          <a:prstGeom prst="rect">
            <a:avLst/>
          </a:prstGeom>
          <a:noFill/>
          <a:ln/>
        </p:spPr>
        <p:txBody>
          <a:bodyPr wrap="square" lIns="0" tIns="0" rIns="0" bIns="0" rtlCol="0" anchor="ctr"/>
          <a:lstStyle/>
          <a:p>
            <a:pPr algn="ctr" indent="0" marL="0">
              <a:buNone/>
            </a:pPr>
            <a:r>
              <a:rPr lang="en-US" sz="4200" b="1" dirty="0">
                <a:solidFill>
                  <a:srgbClr val="3B5998"/>
                </a:solidFill>
                <a:latin typeface="Georgia" pitchFamily="34" charset="0"/>
                <a:ea typeface="Georgia" pitchFamily="34" charset="-122"/>
                <a:cs typeface="Georgia" pitchFamily="34" charset="-120"/>
              </a:rPr>
              <a:t>120</a:t>
            </a:r>
            <a:endParaRPr lang="en-US" sz="4200" dirty="0"/>
          </a:p>
        </p:txBody>
      </p:sp>
      <p:sp>
        <p:nvSpPr>
          <p:cNvPr id="8" name="Text 6"/>
          <p:cNvSpPr/>
          <p:nvPr/>
        </p:nvSpPr>
        <p:spPr>
          <a:xfrm>
            <a:off x="2606040" y="1737360"/>
            <a:ext cx="1920240" cy="365760"/>
          </a:xfrm>
          <a:prstGeom prst="rect">
            <a:avLst/>
          </a:prstGeom>
          <a:noFill/>
          <a:ln/>
        </p:spPr>
        <p:txBody>
          <a:bodyPr wrap="square" lIns="0" tIns="0" rIns="0" bIns="0" rtlCol="0" anchor="ctr"/>
          <a:lstStyle/>
          <a:p>
            <a:pPr algn="ctr" indent="0" marL="0">
              <a:buNone/>
            </a:pPr>
            <a:r>
              <a:rPr lang="en-US" sz="1200" dirty="0">
                <a:solidFill>
                  <a:srgbClr val="5D6D7E"/>
                </a:solidFill>
                <a:latin typeface="Calibri" pitchFamily="34" charset="0"/>
                <a:ea typeface="Calibri" pitchFamily="34" charset="-122"/>
                <a:cs typeface="Calibri" pitchFamily="34" charset="-120"/>
              </a:rPr>
              <a:t>Total Specs</a:t>
            </a:r>
            <a:endParaRPr lang="en-US" sz="1200" dirty="0"/>
          </a:p>
        </p:txBody>
      </p:sp>
      <p:sp>
        <p:nvSpPr>
          <p:cNvPr id="9" name="Shape 7"/>
          <p:cNvSpPr/>
          <p:nvPr/>
        </p:nvSpPr>
        <p:spPr>
          <a:xfrm>
            <a:off x="4754880" y="1005840"/>
            <a:ext cx="192024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Text 8"/>
          <p:cNvSpPr/>
          <p:nvPr/>
        </p:nvSpPr>
        <p:spPr>
          <a:xfrm>
            <a:off x="4754880" y="1051560"/>
            <a:ext cx="1920240" cy="731520"/>
          </a:xfrm>
          <a:prstGeom prst="rect">
            <a:avLst/>
          </a:prstGeom>
          <a:noFill/>
          <a:ln/>
        </p:spPr>
        <p:txBody>
          <a:bodyPr wrap="square" lIns="0" tIns="0" rIns="0" bIns="0" rtlCol="0" anchor="ctr"/>
          <a:lstStyle/>
          <a:p>
            <a:pPr algn="ctr" indent="0" marL="0">
              <a:buNone/>
            </a:pPr>
            <a:r>
              <a:rPr lang="en-US" sz="4200" b="1" dirty="0">
                <a:solidFill>
                  <a:srgbClr val="3498DB"/>
                </a:solidFill>
                <a:latin typeface="Georgia" pitchFamily="34" charset="0"/>
                <a:ea typeface="Georgia" pitchFamily="34" charset="-122"/>
                <a:cs typeface="Georgia" pitchFamily="34" charset="-120"/>
              </a:rPr>
              <a:t>2</a:t>
            </a:r>
            <a:endParaRPr lang="en-US" sz="4200" dirty="0"/>
          </a:p>
        </p:txBody>
      </p:sp>
      <p:sp>
        <p:nvSpPr>
          <p:cNvPr id="11" name="Text 9"/>
          <p:cNvSpPr/>
          <p:nvPr/>
        </p:nvSpPr>
        <p:spPr>
          <a:xfrm>
            <a:off x="4754880" y="1737360"/>
            <a:ext cx="1920240" cy="365760"/>
          </a:xfrm>
          <a:prstGeom prst="rect">
            <a:avLst/>
          </a:prstGeom>
          <a:noFill/>
          <a:ln/>
        </p:spPr>
        <p:txBody>
          <a:bodyPr wrap="square" lIns="0" tIns="0" rIns="0" bIns="0" rtlCol="0" anchor="ctr"/>
          <a:lstStyle/>
          <a:p>
            <a:pPr algn="ctr" indent="0" marL="0">
              <a:buNone/>
            </a:pPr>
            <a:r>
              <a:rPr lang="en-US" sz="1200" dirty="0">
                <a:solidFill>
                  <a:srgbClr val="5D6D7E"/>
                </a:solidFill>
                <a:latin typeface="Calibri" pitchFamily="34" charset="0"/>
                <a:ea typeface="Calibri" pitchFamily="34" charset="-122"/>
                <a:cs typeface="Calibri" pitchFamily="34" charset="-120"/>
              </a:rPr>
              <a:t>APIs Tested</a:t>
            </a:r>
            <a:endParaRPr lang="en-US" sz="1200" dirty="0"/>
          </a:p>
        </p:txBody>
      </p:sp>
      <p:sp>
        <p:nvSpPr>
          <p:cNvPr id="12" name="Shape 10"/>
          <p:cNvSpPr/>
          <p:nvPr/>
        </p:nvSpPr>
        <p:spPr>
          <a:xfrm>
            <a:off x="6903720" y="1005840"/>
            <a:ext cx="192024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6903720" y="1051560"/>
            <a:ext cx="1920240" cy="731520"/>
          </a:xfrm>
          <a:prstGeom prst="rect">
            <a:avLst/>
          </a:prstGeom>
          <a:noFill/>
          <a:ln/>
        </p:spPr>
        <p:txBody>
          <a:bodyPr wrap="square" lIns="0" tIns="0" rIns="0" bIns="0" rtlCol="0" anchor="ctr"/>
          <a:lstStyle/>
          <a:p>
            <a:pPr algn="ctr" indent="0" marL="0">
              <a:buNone/>
            </a:pPr>
            <a:r>
              <a:rPr lang="en-US" sz="4200" b="1" dirty="0">
                <a:solidFill>
                  <a:srgbClr val="1ABC9C"/>
                </a:solidFill>
                <a:latin typeface="Georgia" pitchFamily="34" charset="0"/>
                <a:ea typeface="Georgia" pitchFamily="34" charset="-122"/>
                <a:cs typeface="Georgia" pitchFamily="34" charset="-120"/>
              </a:rPr>
              <a:t>3</a:t>
            </a:r>
            <a:endParaRPr lang="en-US" sz="4200" dirty="0"/>
          </a:p>
        </p:txBody>
      </p:sp>
      <p:sp>
        <p:nvSpPr>
          <p:cNvPr id="14" name="Text 12"/>
          <p:cNvSpPr/>
          <p:nvPr/>
        </p:nvSpPr>
        <p:spPr>
          <a:xfrm>
            <a:off x="6903720" y="1737360"/>
            <a:ext cx="1920240" cy="365760"/>
          </a:xfrm>
          <a:prstGeom prst="rect">
            <a:avLst/>
          </a:prstGeom>
          <a:noFill/>
          <a:ln/>
        </p:spPr>
        <p:txBody>
          <a:bodyPr wrap="square" lIns="0" tIns="0" rIns="0" bIns="0" rtlCol="0" anchor="ctr"/>
          <a:lstStyle/>
          <a:p>
            <a:pPr algn="ctr" indent="0" marL="0">
              <a:buNone/>
            </a:pPr>
            <a:r>
              <a:rPr lang="en-US" sz="1200" dirty="0">
                <a:solidFill>
                  <a:srgbClr val="5D6D7E"/>
                </a:solidFill>
                <a:latin typeface="Calibri" pitchFamily="34" charset="0"/>
                <a:ea typeface="Calibri" pitchFamily="34" charset="-122"/>
                <a:cs typeface="Calibri" pitchFamily="34" charset="-120"/>
              </a:rPr>
              <a:t>Batches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8229600" cy="914400"/>
        </p:xfrm>
        <a:graphic>
          <a:graphicData uri="http://schemas.openxmlformats.org/drawingml/2006/table">
            <a:tbl>
              <a:tblPr/>
              <a:tblGrid>
                <a:gridCol w="2743200"/>
                <a:gridCol w="1828800"/>
                <a:gridCol w="1828800"/>
                <a:gridCol w="182880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Feb Pilot</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Now</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Kernels</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12x</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Specs (CUDA + OMP)</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20 (4 APIs)</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120 (2 APIs)</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6x</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CUDA Pass Rate</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5/5 (100%)</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60/60 (100%)</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32004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OMP Pass Rate</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2/5 (40%)</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41/60 (68%)</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+28pp</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bl>
          </a:graphicData>
        </a:graphic>
      </p:graphicFrame>
      <p:sp>
        <p:nvSpPr>
          <p:cNvPr id="16" name="Text 13"/>
          <p:cNvSpPr/>
          <p:nvPr/>
        </p:nvSpPr>
        <p:spPr>
          <a:xfrm>
            <a:off x="457200" y="4251960"/>
            <a:ext cx="8229600" cy="274320"/>
          </a:xfrm>
          <a:prstGeom prst="rect">
            <a:avLst/>
          </a:prstGeom>
          <a:noFill/>
          <a:ln/>
        </p:spPr>
        <p:txBody>
          <a:bodyPr wrap="square" lIns="0" tIns="0" rIns="0" bIns="0" rtlCol="0" anchor="ctr"/>
          <a:lstStyle/>
          <a:p>
            <a:pPr indent="0" marL="0">
              <a:buNone/>
            </a:pPr>
            <a:r>
              <a:rPr lang="en-US" sz="1000" dirty="0">
                <a:solidFill>
                  <a:srgbClr val="7F8C8D"/>
                </a:solidFill>
                <a:latin typeface="Calibri" pitchFamily="34" charset="0"/>
                <a:ea typeface="Calibri" pitchFamily="34" charset="-122"/>
                <a:cs typeface="Calibri" pitchFamily="34" charset="-120"/>
              </a:rPr>
              <a:t>Platform: RTX 4070 (sm_89, 12GB) | nvcc 12.3 | g++ 12.4.0 + OpenMP | Ubuntu 22.04</a:t>
            </a:r>
            <a:endParaRPr lang="en-US" sz="1000" dirty="0"/>
          </a:p>
        </p:txBody>
      </p:sp>
      <p:sp>
        <p:nvSpPr>
          <p:cNvPr id="17" name="Text 14"/>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results/phase3/results_matrix_phase3.md</a:t>
            </a:r>
            <a:endParaRPr lang="en-US" sz="800" dirty="0"/>
          </a:p>
        </p:txBody>
      </p:sp>
      <p:sp>
        <p:nvSpPr>
          <p:cNvPr id="18" name="Text 15"/>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5 / 18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HeCBench CUDA Results: 60/60 Pass</a:t>
            </a:r>
            <a:endParaRPr lang="en-US" sz="2800" dirty="0"/>
          </a:p>
        </p:txBody>
      </p:sp>
      <p:sp>
        <p:nvSpPr>
          <p:cNvPr id="3" name="Shape 1"/>
          <p:cNvSpPr/>
          <p:nvPr/>
        </p:nvSpPr>
        <p:spPr>
          <a:xfrm>
            <a:off x="457200" y="914400"/>
            <a:ext cx="8229600" cy="548640"/>
          </a:xfrm>
          <a:prstGeom prst="rect">
            <a:avLst/>
          </a:prstGeom>
          <a:solidFill>
            <a:srgbClr val="E8F8F0"/>
          </a:solidFill>
          <a:ln/>
        </p:spPr>
      </p:sp>
      <p:pic>
        <p:nvPicPr>
          <p:cNvPr id="4" name="Image 0" descr="preencoded.png">    </p:cNvPr>
          <p:cNvPicPr>
            <a:picLocks noChangeAspect="1"/>
          </p:cNvPicPr>
          <p:nvPr/>
        </p:nvPicPr>
        <p:blipFill>
          <a:blip r:embed="rId1"/>
          <a:stretch>
            <a:fillRect/>
          </a:stretch>
        </p:blipFill>
        <p:spPr>
          <a:xfrm>
            <a:off x="640080" y="987552"/>
            <a:ext cx="365760" cy="365760"/>
          </a:xfrm>
          <a:prstGeom prst="rect">
            <a:avLst/>
          </a:prstGeom>
        </p:spPr>
      </p:pic>
      <p:sp>
        <p:nvSpPr>
          <p:cNvPr id="5" name="Text 2"/>
          <p:cNvSpPr/>
          <p:nvPr/>
        </p:nvSpPr>
        <p:spPr>
          <a:xfrm>
            <a:off x="1097280" y="914400"/>
            <a:ext cx="7315200" cy="548640"/>
          </a:xfrm>
          <a:prstGeom prst="rect">
            <a:avLst/>
          </a:prstGeom>
          <a:noFill/>
          <a:ln/>
        </p:spPr>
        <p:txBody>
          <a:bodyPr wrap="square" lIns="0" tIns="0" rIns="0" bIns="0" rtlCol="0" anchor="ctr"/>
          <a:lstStyle/>
          <a:p>
            <a:pPr indent="0" marL="0">
              <a:buNone/>
            </a:pPr>
            <a:r>
              <a:rPr lang="en-US" sz="1500" b="1" dirty="0">
                <a:solidFill>
                  <a:srgbClr val="27AE60"/>
                </a:solidFill>
                <a:latin typeface="Calibri" pitchFamily="34" charset="0"/>
                <a:ea typeface="Calibri" pitchFamily="34" charset="-122"/>
                <a:cs typeface="Calibri" pitchFamily="34" charset="-120"/>
              </a:rPr>
              <a:t>All 60 CUDA kernels pass build, run, and verification</a:t>
            </a:r>
            <a:endParaRPr lang="en-US" sz="1500" dirty="0"/>
          </a:p>
        </p:txBody>
      </p:sp>
      <p:sp>
        <p:nvSpPr>
          <p:cNvPr id="6" name="Shape 3"/>
          <p:cNvSpPr/>
          <p:nvPr/>
        </p:nvSpPr>
        <p:spPr>
          <a:xfrm>
            <a:off x="457200" y="1691640"/>
            <a:ext cx="256032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Text 4"/>
          <p:cNvSpPr/>
          <p:nvPr/>
        </p:nvSpPr>
        <p:spPr>
          <a:xfrm>
            <a:off x="457200" y="1691640"/>
            <a:ext cx="2560320" cy="594360"/>
          </a:xfrm>
          <a:prstGeom prst="rect">
            <a:avLst/>
          </a:prstGeom>
          <a:noFill/>
          <a:ln/>
        </p:spPr>
        <p:txBody>
          <a:bodyPr wrap="square" lIns="0" tIns="0" rIns="0" bIns="0" rtlCol="0" anchor="ctr"/>
          <a:lstStyle/>
          <a:p>
            <a:pPr algn="ctr" indent="0" marL="0">
              <a:buNone/>
            </a:pPr>
            <a:r>
              <a:rPr lang="en-US" sz="3600" b="1" dirty="0">
                <a:solidFill>
                  <a:srgbClr val="27AE60"/>
                </a:solidFill>
                <a:latin typeface="Georgia" pitchFamily="34" charset="0"/>
                <a:ea typeface="Georgia" pitchFamily="34" charset="-122"/>
                <a:cs typeface="Georgia" pitchFamily="34" charset="-120"/>
              </a:rPr>
              <a:t>60</a:t>
            </a:r>
            <a:endParaRPr lang="en-US" sz="3600" dirty="0"/>
          </a:p>
        </p:txBody>
      </p:sp>
      <p:sp>
        <p:nvSpPr>
          <p:cNvPr id="8" name="Text 5"/>
          <p:cNvSpPr/>
          <p:nvPr/>
        </p:nvSpPr>
        <p:spPr>
          <a:xfrm>
            <a:off x="457200" y="2240280"/>
            <a:ext cx="2560320" cy="320040"/>
          </a:xfrm>
          <a:prstGeom prst="rect">
            <a:avLst/>
          </a:prstGeom>
          <a:noFill/>
          <a:ln/>
        </p:spPr>
        <p:txBody>
          <a:bodyPr wrap="square" lIns="0" tIns="0" rIns="0" bIns="0" rtlCol="0" anchor="ctr"/>
          <a:lstStyle/>
          <a:p>
            <a:pPr algn="ctr" indent="0" marL="0">
              <a:buNone/>
            </a:pPr>
            <a:r>
              <a:rPr lang="en-US" sz="1000" dirty="0">
                <a:solidFill>
                  <a:srgbClr val="5D6D7E"/>
                </a:solidFill>
                <a:latin typeface="Calibri" pitchFamily="34" charset="0"/>
                <a:ea typeface="Calibri" pitchFamily="34" charset="-122"/>
                <a:cs typeface="Calibri" pitchFamily="34" charset="-120"/>
              </a:rPr>
              <a:t>BUILD PASS</a:t>
            </a:r>
            <a:endParaRPr lang="en-US" sz="1000" dirty="0"/>
          </a:p>
        </p:txBody>
      </p:sp>
      <p:sp>
        <p:nvSpPr>
          <p:cNvPr id="9" name="Shape 6"/>
          <p:cNvSpPr/>
          <p:nvPr/>
        </p:nvSpPr>
        <p:spPr>
          <a:xfrm>
            <a:off x="3291840" y="1691640"/>
            <a:ext cx="256032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Text 7"/>
          <p:cNvSpPr/>
          <p:nvPr/>
        </p:nvSpPr>
        <p:spPr>
          <a:xfrm>
            <a:off x="3291840" y="1691640"/>
            <a:ext cx="2560320" cy="594360"/>
          </a:xfrm>
          <a:prstGeom prst="rect">
            <a:avLst/>
          </a:prstGeom>
          <a:noFill/>
          <a:ln/>
        </p:spPr>
        <p:txBody>
          <a:bodyPr wrap="square" lIns="0" tIns="0" rIns="0" bIns="0" rtlCol="0" anchor="ctr"/>
          <a:lstStyle/>
          <a:p>
            <a:pPr algn="ctr" indent="0" marL="0">
              <a:buNone/>
            </a:pPr>
            <a:r>
              <a:rPr lang="en-US" sz="3600" b="1" dirty="0">
                <a:solidFill>
                  <a:srgbClr val="27AE60"/>
                </a:solidFill>
                <a:latin typeface="Georgia" pitchFamily="34" charset="0"/>
                <a:ea typeface="Georgia" pitchFamily="34" charset="-122"/>
                <a:cs typeface="Georgia" pitchFamily="34" charset="-120"/>
              </a:rPr>
              <a:t>60</a:t>
            </a:r>
            <a:endParaRPr lang="en-US" sz="3600" dirty="0"/>
          </a:p>
        </p:txBody>
      </p:sp>
      <p:sp>
        <p:nvSpPr>
          <p:cNvPr id="11" name="Text 8"/>
          <p:cNvSpPr/>
          <p:nvPr/>
        </p:nvSpPr>
        <p:spPr>
          <a:xfrm>
            <a:off x="3291840" y="2240280"/>
            <a:ext cx="2560320" cy="320040"/>
          </a:xfrm>
          <a:prstGeom prst="rect">
            <a:avLst/>
          </a:prstGeom>
          <a:noFill/>
          <a:ln/>
        </p:spPr>
        <p:txBody>
          <a:bodyPr wrap="square" lIns="0" tIns="0" rIns="0" bIns="0" rtlCol="0" anchor="ctr"/>
          <a:lstStyle/>
          <a:p>
            <a:pPr algn="ctr" indent="0" marL="0">
              <a:buNone/>
            </a:pPr>
            <a:r>
              <a:rPr lang="en-US" sz="1000" dirty="0">
                <a:solidFill>
                  <a:srgbClr val="5D6D7E"/>
                </a:solidFill>
                <a:latin typeface="Calibri" pitchFamily="34" charset="0"/>
                <a:ea typeface="Calibri" pitchFamily="34" charset="-122"/>
                <a:cs typeface="Calibri" pitchFamily="34" charset="-120"/>
              </a:rPr>
              <a:t>RUN PASS</a:t>
            </a:r>
            <a:endParaRPr lang="en-US" sz="1000" dirty="0"/>
          </a:p>
        </p:txBody>
      </p:sp>
      <p:sp>
        <p:nvSpPr>
          <p:cNvPr id="12" name="Shape 9"/>
          <p:cNvSpPr/>
          <p:nvPr/>
        </p:nvSpPr>
        <p:spPr>
          <a:xfrm>
            <a:off x="6126480" y="1691640"/>
            <a:ext cx="2560320" cy="9144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0"/>
          <p:cNvSpPr/>
          <p:nvPr/>
        </p:nvSpPr>
        <p:spPr>
          <a:xfrm>
            <a:off x="6126480" y="1691640"/>
            <a:ext cx="2560320" cy="594360"/>
          </a:xfrm>
          <a:prstGeom prst="rect">
            <a:avLst/>
          </a:prstGeom>
          <a:noFill/>
          <a:ln/>
        </p:spPr>
        <p:txBody>
          <a:bodyPr wrap="square" lIns="0" tIns="0" rIns="0" bIns="0" rtlCol="0" anchor="ctr"/>
          <a:lstStyle/>
          <a:p>
            <a:pPr algn="ctr" indent="0" marL="0">
              <a:buNone/>
            </a:pPr>
            <a:r>
              <a:rPr lang="en-US" sz="3600" b="1" dirty="0">
                <a:solidFill>
                  <a:srgbClr val="27AE60"/>
                </a:solidFill>
                <a:latin typeface="Georgia" pitchFamily="34" charset="0"/>
                <a:ea typeface="Georgia" pitchFamily="34" charset="-122"/>
                <a:cs typeface="Georgia" pitchFamily="34" charset="-120"/>
              </a:rPr>
              <a:t>60</a:t>
            </a:r>
            <a:endParaRPr lang="en-US" sz="3600" dirty="0"/>
          </a:p>
        </p:txBody>
      </p:sp>
      <p:sp>
        <p:nvSpPr>
          <p:cNvPr id="14" name="Text 11"/>
          <p:cNvSpPr/>
          <p:nvPr/>
        </p:nvSpPr>
        <p:spPr>
          <a:xfrm>
            <a:off x="6126480" y="2240280"/>
            <a:ext cx="2560320" cy="320040"/>
          </a:xfrm>
          <a:prstGeom prst="rect">
            <a:avLst/>
          </a:prstGeom>
          <a:noFill/>
          <a:ln/>
        </p:spPr>
        <p:txBody>
          <a:bodyPr wrap="square" lIns="0" tIns="0" rIns="0" bIns="0" rtlCol="0" anchor="ctr"/>
          <a:lstStyle/>
          <a:p>
            <a:pPr algn="ctr" indent="0" marL="0">
              <a:buNone/>
            </a:pPr>
            <a:r>
              <a:rPr lang="en-US" sz="1000" dirty="0">
                <a:solidFill>
                  <a:srgbClr val="5D6D7E"/>
                </a:solidFill>
                <a:latin typeface="Calibri" pitchFamily="34" charset="0"/>
                <a:ea typeface="Calibri" pitchFamily="34" charset="-122"/>
                <a:cs typeface="Calibri" pitchFamily="34" charset="-120"/>
              </a:rPr>
              <a:t>VERIFY PASS</a:t>
            </a:r>
            <a:endParaRPr lang="en-US" sz="1000" dirty="0"/>
          </a:p>
        </p:txBody>
      </p:sp>
      <p:sp>
        <p:nvSpPr>
          <p:cNvPr id="15" name="Text 12"/>
          <p:cNvSpPr/>
          <p:nvPr/>
        </p:nvSpPr>
        <p:spPr>
          <a:xfrm>
            <a:off x="457200" y="2834640"/>
            <a:ext cx="8229600" cy="320040"/>
          </a:xfrm>
          <a:prstGeom prst="rect">
            <a:avLst/>
          </a:prstGeom>
          <a:noFill/>
          <a:ln/>
        </p:spPr>
        <p:txBody>
          <a:bodyPr wrap="square" lIns="0" tIns="0" rIns="0" bIns="0" rtlCol="0" anchor="ctr"/>
          <a:lstStyle/>
          <a:p>
            <a:pPr indent="0" marL="0">
              <a:buNone/>
            </a:pPr>
            <a:r>
              <a:rPr lang="en-US" sz="1100" dirty="0">
                <a:solidFill>
                  <a:srgbClr val="5D6D7E"/>
                </a:solidFill>
                <a:latin typeface="Calibri" pitchFamily="34" charset="0"/>
                <a:ea typeface="Calibri" pitchFamily="34" charset="-122"/>
                <a:cs typeface="Calibri" pitchFamily="34" charset="-120"/>
              </a:rPr>
              <a:t>Sample of 60 kernels tested (all categories: crypto, physics, ML, linear algebra, graph, sort, ...)</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914400"/>
        </p:xfrm>
        <a:graphic>
          <a:graphicData uri="http://schemas.openxmlformats.org/drawingml/2006/table">
            <a:tbl>
              <a:tblPr/>
              <a:tblGrid>
                <a:gridCol w="1371600"/>
                <a:gridCol w="1371600"/>
                <a:gridCol w="1371600"/>
                <a:gridCol w="1371600"/>
                <a:gridCol w="1371600"/>
                <a:gridCol w="1371600"/>
              </a:tblGrid>
              <a:tr h="274320">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aes</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babelstream</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bezier-surface</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bilateral</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ccsd-trpdrv</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chacha20</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274320">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chi2</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crc64</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eigenvalue</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fft</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gaussian</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geglu</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274320">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heat2d</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ising</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lud</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lulesh</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mandelbrot</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maxpool3d</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274320">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md5hash</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nbody</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nn</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nw</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rmsnorm</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scan</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274320">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secp256k1</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sobel</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sobol</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softmax-online</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thomas</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indent="0" marL="0">
                        <a:buNone/>
                      </a:pPr>
                      <a:r>
                        <a:rPr lang="en-US" sz="900" dirty="0">
                          <a:solidFill>
                            <a:srgbClr val="2C3E50"/>
                          </a:solidFill>
                          <a:latin typeface="Consolas" pitchFamily="34" charset="0"/>
                          <a:ea typeface="Consolas" pitchFamily="34" charset="-122"/>
                          <a:cs typeface="Consolas" pitchFamily="34" charset="-120"/>
                        </a:rPr>
                        <a:t>tsp</a:t>
                      </a:r>
                      <a:endParaRPr lang="en-US" sz="9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bl>
          </a:graphicData>
        </a:graphic>
      </p:graphicFrame>
      <p:sp>
        <p:nvSpPr>
          <p:cNvPr id="17" name="Text 13"/>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results/phase3/results_matrix_phase3.md — full 60-kernel matrix</a:t>
            </a:r>
            <a:endParaRPr lang="en-US" sz="800" dirty="0"/>
          </a:p>
        </p:txBody>
      </p:sp>
      <p:sp>
        <p:nvSpPr>
          <p:cNvPr id="18" name="Text 14"/>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6 / 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HeCBench OpenMP Results: 41/60 Pass</a:t>
            </a:r>
            <a:endParaRPr lang="en-US" sz="2800" dirty="0"/>
          </a:p>
        </p:txBody>
      </p:sp>
      <p:graphicFrame>
        <p:nvGraphicFramePr>
          <p:cNvPr id="3" name="Chart 0" descr=""/>
          <p:cNvGraphicFramePr/>
          <p:nvPr/>
        </p:nvGraphicFramePr>
        <p:xfrm>
          <a:off x="457200" y="914400"/>
          <a:ext cx="5029200" cy="2560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760720" y="914400"/>
            <a:ext cx="2926080" cy="25603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Text 2"/>
          <p:cNvSpPr/>
          <p:nvPr/>
        </p:nvSpPr>
        <p:spPr>
          <a:xfrm>
            <a:off x="5943600" y="1005840"/>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Breakdown</a:t>
            </a:r>
            <a:endParaRPr lang="en-US" sz="1400" dirty="0"/>
          </a:p>
        </p:txBody>
      </p:sp>
      <p:sp>
        <p:nvSpPr>
          <p:cNvPr id="6" name="Text 3"/>
          <p:cNvSpPr/>
          <p:nvPr/>
        </p:nvSpPr>
        <p:spPr>
          <a:xfrm>
            <a:off x="5943600" y="1417320"/>
            <a:ext cx="2560320" cy="1828800"/>
          </a:xfrm>
          <a:prstGeom prst="rect">
            <a:avLst/>
          </a:prstGeom>
          <a:noFill/>
          <a:ln/>
        </p:spPr>
        <p:txBody>
          <a:bodyPr wrap="square" lIns="0" tIns="0" rIns="0" bIns="0" rtlCol="0" anchor="ctr"/>
          <a:lstStyle/>
          <a:p>
            <a:pPr marL="342900" indent="-342900">
              <a:spcAft>
                <a:spcPts val="600"/>
              </a:spcAft>
              <a:buSzPct val="100000"/>
              <a:buChar char="•"/>
            </a:pPr>
            <a:r>
              <a:rPr lang="en-US" sz="1100" b="1" dirty="0">
                <a:solidFill>
                  <a:srgbClr val="27AE60"/>
                </a:solidFill>
                <a:latin typeface="Calibri" pitchFamily="34" charset="0"/>
                <a:ea typeface="Calibri" pitchFamily="34" charset="-122"/>
                <a:cs typeface="Calibri" pitchFamily="34" charset="-120"/>
              </a:rPr>
              <a:t>41 full pass (68.3%)</a:t>
            </a:r>
            <a:endParaRPr lang="en-US" sz="1100" dirty="0"/>
          </a:p>
          <a:p>
            <a:pPr marL="342900" indent="-342900">
              <a:spcAft>
                <a:spcPts val="600"/>
              </a:spcAft>
              <a:buSzPct val="100000"/>
              <a:buChar char="•"/>
            </a:pPr>
            <a:r>
              <a:rPr lang="en-US" sz="1100" b="1" dirty="0">
                <a:solidFill>
                  <a:srgbClr val="E74C3C"/>
                </a:solidFill>
                <a:latin typeface="Calibri" pitchFamily="34" charset="0"/>
                <a:ea typeface="Calibri" pitchFamily="34" charset="-122"/>
                <a:cs typeface="Calibri" pitchFamily="34" charset="-120"/>
              </a:rPr>
              <a:t>9 verify fail (15.0%)</a:t>
            </a:r>
            <a:endParaRPr lang="en-US" sz="1100" dirty="0"/>
          </a:p>
          <a:p>
            <a:pPr marL="342900" indent="-342900">
              <a:spcAft>
                <a:spcPts val="600"/>
              </a:spcAft>
              <a:buSzPct val="100000"/>
              <a:buChar char="•"/>
            </a:pPr>
            <a:r>
              <a:rPr lang="en-US" sz="1100" b="1" dirty="0">
                <a:solidFill>
                  <a:srgbClr val="F39C12"/>
                </a:solidFill>
                <a:latin typeface="Calibri" pitchFamily="34" charset="0"/>
                <a:ea typeface="Calibri" pitchFamily="34" charset="-122"/>
                <a:cs typeface="Calibri" pitchFamily="34" charset="-120"/>
              </a:rPr>
              <a:t>7 run fail/timeout (11.7%)</a:t>
            </a:r>
            <a:endParaRPr lang="en-US" sz="1100" dirty="0"/>
          </a:p>
          <a:p>
            <a:pPr marL="342900" indent="-342900">
              <a:spcAft>
                <a:spcPts val="600"/>
              </a:spcAft>
              <a:buSzPct val="100000"/>
              <a:buChar char="•"/>
            </a:pPr>
            <a:r>
              <a:rPr lang="en-US" sz="1100" b="1" dirty="0">
                <a:solidFill>
                  <a:srgbClr val="E74C3C"/>
                </a:solidFill>
                <a:latin typeface="Calibri" pitchFamily="34" charset="0"/>
                <a:ea typeface="Calibri" pitchFamily="34" charset="-122"/>
                <a:cs typeface="Calibri" pitchFamily="34" charset="-120"/>
              </a:rPr>
              <a:t>2 build fail (3.3%)</a:t>
            </a:r>
            <a:endParaRPr lang="en-US" sz="1100" dirty="0"/>
          </a:p>
          <a:p>
            <a:pPr marL="342900" indent="-342900">
              <a:spcAft>
                <a:spcPts val="600"/>
              </a:spcAft>
              <a:buSzPct val="100000"/>
              <a:buChar char="•"/>
            </a:pPr>
            <a:r>
              <a:rPr lang="en-US" sz="1100" b="1" dirty="0">
                <a:solidFill>
                  <a:srgbClr val="7F8C8D"/>
                </a:solidFill>
                <a:latin typeface="Calibri" pitchFamily="34" charset="0"/>
                <a:ea typeface="Calibri" pitchFamily="34" charset="-122"/>
                <a:cs typeface="Calibri" pitchFamily="34" charset="-120"/>
              </a:rPr>
              <a:t>1 skip — no OMP dir (1.7%)</a:t>
            </a:r>
            <a:endParaRPr lang="en-US" sz="1100" dirty="0"/>
          </a:p>
        </p:txBody>
      </p:sp>
      <p:sp>
        <p:nvSpPr>
          <p:cNvPr id="7" name="Shape 4"/>
          <p:cNvSpPr/>
          <p:nvPr/>
        </p:nvSpPr>
        <p:spPr>
          <a:xfrm>
            <a:off x="457200" y="3703320"/>
            <a:ext cx="8229600" cy="685800"/>
          </a:xfrm>
          <a:prstGeom prst="rect">
            <a:avLst/>
          </a:prstGeom>
          <a:solidFill>
            <a:srgbClr val="E8F0FE"/>
          </a:solidFill>
          <a:ln/>
        </p:spPr>
      </p:sp>
      <p:sp>
        <p:nvSpPr>
          <p:cNvPr id="8" name="Text 5"/>
          <p:cNvSpPr/>
          <p:nvPr/>
        </p:nvSpPr>
        <p:spPr>
          <a:xfrm>
            <a:off x="640080" y="3749040"/>
            <a:ext cx="13716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KEY INSIGHT</a:t>
            </a:r>
            <a:endParaRPr lang="en-US" sz="1000" dirty="0"/>
          </a:p>
        </p:txBody>
      </p:sp>
      <p:sp>
        <p:nvSpPr>
          <p:cNvPr id="9" name="Text 6"/>
          <p:cNvSpPr/>
          <p:nvPr/>
        </p:nvSpPr>
        <p:spPr>
          <a:xfrm>
            <a:off x="640080" y="3977640"/>
            <a:ext cx="7772400" cy="365760"/>
          </a:xfrm>
          <a:prstGeom prst="rect">
            <a:avLst/>
          </a:prstGeom>
          <a:noFill/>
          <a:ln/>
        </p:spPr>
        <p:txBody>
          <a:bodyPr wrap="square" lIns="0" tIns="0" rIns="0" bIns="0" rtlCol="0" anchor="ctr"/>
          <a:lstStyle/>
          <a:p>
            <a:pPr indent="0" marL="0">
              <a:buNone/>
            </a:pPr>
            <a:r>
              <a:rPr lang="en-US" sz="1100" dirty="0">
                <a:solidFill>
                  <a:srgbClr val="2C3E50"/>
                </a:solidFill>
                <a:latin typeface="Calibri" pitchFamily="34" charset="0"/>
                <a:ea typeface="Calibri" pitchFamily="34" charset="-122"/>
                <a:cs typeface="Calibri" pitchFamily="34" charset="-120"/>
              </a:rPr>
              <a:t>All 19 OMP failures are GPU-assumption issues in HeCBench source code, not spec or harness bugs. These represent real portability challenges that LLMs must handle in CUDA→OpenMP translation.</a:t>
            </a:r>
            <a:endParaRPr lang="en-US" sz="1100" dirty="0"/>
          </a:p>
        </p:txBody>
      </p:sp>
      <p:sp>
        <p:nvSpPr>
          <p:cNvPr id="10" name="Text 7"/>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results/phase3/results_matrix_phase3.md</a:t>
            </a:r>
            <a:endParaRPr lang="en-US" sz="800" dirty="0"/>
          </a:p>
        </p:txBody>
      </p:sp>
      <p:sp>
        <p:nvSpPr>
          <p:cNvPr id="11" name="Text 8"/>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7 / 18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OMP Failure Root-Cause Categories</a:t>
            </a:r>
            <a:endParaRPr lang="en-US" sz="2800" dirty="0"/>
          </a:p>
        </p:txBody>
      </p:sp>
      <p:sp>
        <p:nvSpPr>
          <p:cNvPr id="3" name="Shape 1"/>
          <p:cNvSpPr/>
          <p:nvPr/>
        </p:nvSpPr>
        <p:spPr>
          <a:xfrm>
            <a:off x="457200" y="100584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1005840"/>
            <a:ext cx="54864" cy="822960"/>
          </a:xfrm>
          <a:prstGeom prst="rect">
            <a:avLst/>
          </a:prstGeom>
          <a:solidFill>
            <a:srgbClr val="E74C3C"/>
          </a:solidFill>
          <a:ln/>
        </p:spPr>
      </p:sp>
      <p:sp>
        <p:nvSpPr>
          <p:cNvPr id="5" name="Text 3"/>
          <p:cNvSpPr/>
          <p:nvPr/>
        </p:nvSpPr>
        <p:spPr>
          <a:xfrm>
            <a:off x="685800" y="1051560"/>
            <a:ext cx="2743200" cy="274320"/>
          </a:xfrm>
          <a:prstGeom prst="rect">
            <a:avLst/>
          </a:prstGeom>
          <a:noFill/>
          <a:ln/>
        </p:spPr>
        <p:txBody>
          <a:bodyPr wrap="square" lIns="0" tIns="0" rIns="0" bIns="0" rtlCol="0" anchor="ctr"/>
          <a:lstStyle/>
          <a:p>
            <a:pPr indent="0" marL="0">
              <a:buNone/>
            </a:pPr>
            <a:r>
              <a:rPr lang="en-US" sz="1300" b="1" dirty="0">
                <a:solidFill>
                  <a:srgbClr val="E74C3C"/>
                </a:solidFill>
                <a:latin typeface="Calibri" pitchFamily="34" charset="0"/>
                <a:ea typeface="Calibri" pitchFamily="34" charset="-122"/>
                <a:cs typeface="Calibri" pitchFamily="34" charset="-120"/>
              </a:rPr>
              <a:t>Verify Failures (9)</a:t>
            </a:r>
            <a:endParaRPr lang="en-US" sz="1300" dirty="0"/>
          </a:p>
        </p:txBody>
      </p:sp>
      <p:sp>
        <p:nvSpPr>
          <p:cNvPr id="6" name="Text 4"/>
          <p:cNvSpPr/>
          <p:nvPr/>
        </p:nvSpPr>
        <p:spPr>
          <a:xfrm>
            <a:off x="685800" y="1307592"/>
            <a:ext cx="4297680" cy="274320"/>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Wrong output. GPU memory model assumptions, FP divergence.</a:t>
            </a:r>
            <a:endParaRPr lang="en-US" sz="1000" dirty="0"/>
          </a:p>
        </p:txBody>
      </p:sp>
      <p:sp>
        <p:nvSpPr>
          <p:cNvPr id="7" name="Text 5"/>
          <p:cNvSpPr/>
          <p:nvPr/>
        </p:nvSpPr>
        <p:spPr>
          <a:xfrm>
            <a:off x="5120640" y="1051560"/>
            <a:ext cx="3383280" cy="731520"/>
          </a:xfrm>
          <a:prstGeom prst="rect">
            <a:avLst/>
          </a:prstGeom>
          <a:noFill/>
          <a:ln/>
        </p:spPr>
        <p:txBody>
          <a:bodyPr wrap="square" lIns="0" tIns="0" rIns="0" bIns="0" rtlCol="0" anchor="ctr"/>
          <a:lstStyle/>
          <a:p>
            <a:pPr indent="0" marL="0">
              <a:buNone/>
            </a:pPr>
            <a:r>
              <a:rPr lang="en-US" sz="900" dirty="0">
                <a:solidFill>
                  <a:srgbClr val="5D6D7E"/>
                </a:solidFill>
                <a:latin typeface="Consolas" pitchFamily="34" charset="0"/>
                <a:ea typeface="Consolas" pitchFamily="34" charset="-122"/>
                <a:cs typeface="Consolas" pitchFamily="34" charset="-120"/>
              </a:rPr>
              <a:t>backprop, fft, fwt, knn, laplace3d, pso, tissue, fpc, particle-diff</a:t>
            </a:r>
            <a:endParaRPr lang="en-US" sz="900" dirty="0"/>
          </a:p>
        </p:txBody>
      </p:sp>
      <p:sp>
        <p:nvSpPr>
          <p:cNvPr id="8" name="Shape 6"/>
          <p:cNvSpPr/>
          <p:nvPr/>
        </p:nvSpPr>
        <p:spPr>
          <a:xfrm>
            <a:off x="457200" y="196596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57200" y="1965960"/>
            <a:ext cx="54864" cy="822960"/>
          </a:xfrm>
          <a:prstGeom prst="rect">
            <a:avLst/>
          </a:prstGeom>
          <a:solidFill>
            <a:srgbClr val="F39C12"/>
          </a:solidFill>
          <a:ln/>
        </p:spPr>
      </p:sp>
      <p:sp>
        <p:nvSpPr>
          <p:cNvPr id="10" name="Text 8"/>
          <p:cNvSpPr/>
          <p:nvPr/>
        </p:nvSpPr>
        <p:spPr>
          <a:xfrm>
            <a:off x="685800" y="2011680"/>
            <a:ext cx="2743200" cy="274320"/>
          </a:xfrm>
          <a:prstGeom prst="rect">
            <a:avLst/>
          </a:prstGeom>
          <a:noFill/>
          <a:ln/>
        </p:spPr>
        <p:txBody>
          <a:bodyPr wrap="square" lIns="0" tIns="0" rIns="0" bIns="0"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Run Failures (4)</a:t>
            </a:r>
            <a:endParaRPr lang="en-US" sz="1300" dirty="0"/>
          </a:p>
        </p:txBody>
      </p:sp>
      <p:sp>
        <p:nvSpPr>
          <p:cNvPr id="11" name="Text 9"/>
          <p:cNvSpPr/>
          <p:nvPr/>
        </p:nvSpPr>
        <p:spPr>
          <a:xfrm>
            <a:off x="685800" y="2267712"/>
            <a:ext cx="4297680" cy="274320"/>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Segfaults. Warp-synchronous code → data races on CPU.</a:t>
            </a:r>
            <a:endParaRPr lang="en-US" sz="1000" dirty="0"/>
          </a:p>
        </p:txBody>
      </p:sp>
      <p:sp>
        <p:nvSpPr>
          <p:cNvPr id="12" name="Text 10"/>
          <p:cNvSpPr/>
          <p:nvPr/>
        </p:nvSpPr>
        <p:spPr>
          <a:xfrm>
            <a:off x="5120640" y="2011680"/>
            <a:ext cx="3383280" cy="731520"/>
          </a:xfrm>
          <a:prstGeom prst="rect">
            <a:avLst/>
          </a:prstGeom>
          <a:noFill/>
          <a:ln/>
        </p:spPr>
        <p:txBody>
          <a:bodyPr wrap="square" lIns="0" tIns="0" rIns="0" bIns="0" rtlCol="0" anchor="ctr"/>
          <a:lstStyle/>
          <a:p>
            <a:pPr indent="0" marL="0">
              <a:buNone/>
            </a:pPr>
            <a:r>
              <a:rPr lang="en-US" sz="900" dirty="0">
                <a:solidFill>
                  <a:srgbClr val="5D6D7E"/>
                </a:solidFill>
                <a:latin typeface="Consolas" pitchFamily="34" charset="0"/>
                <a:ea typeface="Consolas" pitchFamily="34" charset="-122"/>
                <a:cs typeface="Consolas" pitchFamily="34" charset="-120"/>
              </a:rPr>
              <a:t>dct8x8, mis, radixsort, sobol</a:t>
            </a:r>
            <a:endParaRPr lang="en-US" sz="900" dirty="0"/>
          </a:p>
        </p:txBody>
      </p:sp>
      <p:sp>
        <p:nvSpPr>
          <p:cNvPr id="13" name="Shape 11"/>
          <p:cNvSpPr/>
          <p:nvPr/>
        </p:nvSpPr>
        <p:spPr>
          <a:xfrm>
            <a:off x="457200" y="292608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457200" y="2926080"/>
            <a:ext cx="54864" cy="822960"/>
          </a:xfrm>
          <a:prstGeom prst="rect">
            <a:avLst/>
          </a:prstGeom>
          <a:solidFill>
            <a:srgbClr val="F39C12"/>
          </a:solidFill>
          <a:ln/>
        </p:spPr>
      </p:sp>
      <p:sp>
        <p:nvSpPr>
          <p:cNvPr id="15" name="Text 13"/>
          <p:cNvSpPr/>
          <p:nvPr/>
        </p:nvSpPr>
        <p:spPr>
          <a:xfrm>
            <a:off x="685800" y="2971800"/>
            <a:ext cx="2743200" cy="274320"/>
          </a:xfrm>
          <a:prstGeom prst="rect">
            <a:avLst/>
          </a:prstGeom>
          <a:noFill/>
          <a:ln/>
        </p:spPr>
        <p:txBody>
          <a:bodyPr wrap="square" lIns="0" tIns="0" rIns="0" bIns="0" rtlCol="0" anchor="ctr"/>
          <a:lstStyle/>
          <a:p>
            <a:pPr indent="0" marL="0">
              <a:buNone/>
            </a:pPr>
            <a:r>
              <a:rPr lang="en-US" sz="1300" b="1" dirty="0">
                <a:solidFill>
                  <a:srgbClr val="F39C12"/>
                </a:solidFill>
                <a:latin typeface="Calibri" pitchFamily="34" charset="0"/>
                <a:ea typeface="Calibri" pitchFamily="34" charset="-122"/>
                <a:cs typeface="Calibri" pitchFamily="34" charset="-120"/>
              </a:rPr>
              <a:t>Timeouts (3)</a:t>
            </a:r>
            <a:endParaRPr lang="en-US" sz="1300" dirty="0"/>
          </a:p>
        </p:txBody>
      </p:sp>
      <p:sp>
        <p:nvSpPr>
          <p:cNvPr id="16" name="Text 14"/>
          <p:cNvSpPr/>
          <p:nvPr/>
        </p:nvSpPr>
        <p:spPr>
          <a:xfrm>
            <a:off x="685800" y="3227832"/>
            <a:ext cx="4297680" cy="274320"/>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GPU-parallel → sequential on CPU. O(n) → O(n²).</a:t>
            </a:r>
            <a:endParaRPr lang="en-US" sz="1000" dirty="0"/>
          </a:p>
        </p:txBody>
      </p:sp>
      <p:sp>
        <p:nvSpPr>
          <p:cNvPr id="17" name="Text 15"/>
          <p:cNvSpPr/>
          <p:nvPr/>
        </p:nvSpPr>
        <p:spPr>
          <a:xfrm>
            <a:off x="5120640" y="2971800"/>
            <a:ext cx="3383280" cy="731520"/>
          </a:xfrm>
          <a:prstGeom prst="rect">
            <a:avLst/>
          </a:prstGeom>
          <a:noFill/>
          <a:ln/>
        </p:spPr>
        <p:txBody>
          <a:bodyPr wrap="square" lIns="0" tIns="0" rIns="0" bIns="0" rtlCol="0" anchor="ctr"/>
          <a:lstStyle/>
          <a:p>
            <a:pPr indent="0" marL="0">
              <a:buNone/>
            </a:pPr>
            <a:r>
              <a:rPr lang="en-US" sz="900" dirty="0">
                <a:solidFill>
                  <a:srgbClr val="5D6D7E"/>
                </a:solidFill>
                <a:latin typeface="Consolas" pitchFamily="34" charset="0"/>
                <a:ea typeface="Consolas" pitchFamily="34" charset="-122"/>
                <a:cs typeface="Consolas" pitchFamily="34" charset="-120"/>
              </a:rPr>
              <a:t>binomial, merge, softmax-online</a:t>
            </a:r>
            <a:endParaRPr lang="en-US" sz="900" dirty="0"/>
          </a:p>
        </p:txBody>
      </p:sp>
      <p:sp>
        <p:nvSpPr>
          <p:cNvPr id="18" name="Shape 16"/>
          <p:cNvSpPr/>
          <p:nvPr/>
        </p:nvSpPr>
        <p:spPr>
          <a:xfrm>
            <a:off x="457200" y="388620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57200" y="3886200"/>
            <a:ext cx="54864" cy="822960"/>
          </a:xfrm>
          <a:prstGeom prst="rect">
            <a:avLst/>
          </a:prstGeom>
          <a:solidFill>
            <a:srgbClr val="7F8C8D"/>
          </a:solidFill>
          <a:ln/>
        </p:spPr>
      </p:sp>
      <p:sp>
        <p:nvSpPr>
          <p:cNvPr id="20" name="Text 18"/>
          <p:cNvSpPr/>
          <p:nvPr/>
        </p:nvSpPr>
        <p:spPr>
          <a:xfrm>
            <a:off x="685800" y="3931920"/>
            <a:ext cx="2743200" cy="274320"/>
          </a:xfrm>
          <a:prstGeom prst="rect">
            <a:avLst/>
          </a:prstGeom>
          <a:noFill/>
          <a:ln/>
        </p:spPr>
        <p:txBody>
          <a:bodyPr wrap="square" lIns="0" tIns="0" rIns="0" bIns="0" rtlCol="0" anchor="ctr"/>
          <a:lstStyle/>
          <a:p>
            <a:pPr indent="0" marL="0">
              <a:buNone/>
            </a:pPr>
            <a:r>
              <a:rPr lang="en-US" sz="1300" b="1" dirty="0">
                <a:solidFill>
                  <a:srgbClr val="7F8C8D"/>
                </a:solidFill>
                <a:latin typeface="Calibri" pitchFamily="34" charset="0"/>
                <a:ea typeface="Calibri" pitchFamily="34" charset="-122"/>
                <a:cs typeface="Calibri" pitchFamily="34" charset="-120"/>
              </a:rPr>
              <a:t>Build Fail (2) + Skip (1)</a:t>
            </a:r>
            <a:endParaRPr lang="en-US" sz="1300" dirty="0"/>
          </a:p>
        </p:txBody>
      </p:sp>
      <p:sp>
        <p:nvSpPr>
          <p:cNvPr id="21" name="Text 19"/>
          <p:cNvSpPr/>
          <p:nvPr/>
        </p:nvSpPr>
        <p:spPr>
          <a:xfrm>
            <a:off x="685800" y="4187952"/>
            <a:ext cx="4297680" cy="274320"/>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Incomplete HeCBench OMP ports, not portability issues.</a:t>
            </a:r>
            <a:endParaRPr lang="en-US" sz="1000" dirty="0"/>
          </a:p>
        </p:txBody>
      </p:sp>
      <p:sp>
        <p:nvSpPr>
          <p:cNvPr id="22" name="Text 20"/>
          <p:cNvSpPr/>
          <p:nvPr/>
        </p:nvSpPr>
        <p:spPr>
          <a:xfrm>
            <a:off x="5120640" y="3931920"/>
            <a:ext cx="3383280" cy="731520"/>
          </a:xfrm>
          <a:prstGeom prst="rect">
            <a:avLst/>
          </a:prstGeom>
          <a:noFill/>
          <a:ln/>
        </p:spPr>
        <p:txBody>
          <a:bodyPr wrap="square" lIns="0" tIns="0" rIns="0" bIns="0" rtlCol="0" anchor="ctr"/>
          <a:lstStyle/>
          <a:p>
            <a:pPr indent="0" marL="0">
              <a:buNone/>
            </a:pPr>
            <a:r>
              <a:rPr lang="en-US" sz="900" dirty="0">
                <a:solidFill>
                  <a:srgbClr val="5D6D7E"/>
                </a:solidFill>
                <a:latin typeface="Consolas" pitchFamily="34" charset="0"/>
                <a:ea typeface="Consolas" pitchFamily="34" charset="-122"/>
                <a:cs typeface="Consolas" pitchFamily="34" charset="-120"/>
              </a:rPr>
              <a:t>convolutionsep, simplespmv, conv3d</a:t>
            </a:r>
            <a:endParaRPr lang="en-US" sz="900" dirty="0"/>
          </a:p>
        </p:txBody>
      </p:sp>
      <p:sp>
        <p:nvSpPr>
          <p:cNvPr id="23" name="Text 21"/>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results/phase3/results_matrix_phase3.md — see Notes column for per-kernel details</a:t>
            </a:r>
            <a:endParaRPr lang="en-US" sz="800" dirty="0"/>
          </a:p>
        </p:txBody>
      </p:sp>
      <p:sp>
        <p:nvSpPr>
          <p:cNvPr id="24" name="Text 22"/>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8 / 18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2011680"/>
            <a:ext cx="9144000" cy="54864"/>
          </a:xfrm>
          <a:prstGeom prst="rect">
            <a:avLst/>
          </a:prstGeom>
          <a:solidFill>
            <a:srgbClr val="F1C40F"/>
          </a:solidFill>
          <a:ln/>
        </p:spPr>
      </p:sp>
      <p:sp>
        <p:nvSpPr>
          <p:cNvPr id="3" name="Text 1"/>
          <p:cNvSpPr/>
          <p:nvPr/>
        </p:nvSpPr>
        <p:spPr>
          <a:xfrm>
            <a:off x="731520" y="1097280"/>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Rodinia: Second Benchmark Suite</a:t>
            </a:r>
            <a:endParaRPr lang="en-US" sz="3800" dirty="0"/>
          </a:p>
        </p:txBody>
      </p:sp>
      <p:sp>
        <p:nvSpPr>
          <p:cNvPr id="4" name="Text 2"/>
          <p:cNvSpPr/>
          <p:nvPr/>
        </p:nvSpPr>
        <p:spPr>
          <a:xfrm>
            <a:off x="731520" y="2377440"/>
            <a:ext cx="768096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24 kernels surveyed, 63 specs generated across CUDA, OpenCL, and OpenMP</a:t>
            </a:r>
            <a:endParaRPr lang="en-US" sz="16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9 / 18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Rodinia Survey: 24 Kernels, 3 APIs</a:t>
            </a:r>
            <a:endParaRPr lang="en-US" sz="2800" dirty="0"/>
          </a:p>
        </p:txBody>
      </p:sp>
      <p:sp>
        <p:nvSpPr>
          <p:cNvPr id="3" name="Shape 1"/>
          <p:cNvSpPr/>
          <p:nvPr/>
        </p:nvSpPr>
        <p:spPr>
          <a:xfrm>
            <a:off x="457200" y="960120"/>
            <a:ext cx="192024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Text 2"/>
          <p:cNvSpPr/>
          <p:nvPr/>
        </p:nvSpPr>
        <p:spPr>
          <a:xfrm>
            <a:off x="457200" y="960120"/>
            <a:ext cx="1920240" cy="640080"/>
          </a:xfrm>
          <a:prstGeom prst="rect">
            <a:avLst/>
          </a:prstGeom>
          <a:noFill/>
          <a:ln/>
        </p:spPr>
        <p:txBody>
          <a:bodyPr wrap="square" lIns="0" tIns="0" rIns="0" bIns="0" rtlCol="0" anchor="ctr"/>
          <a:lstStyle/>
          <a:p>
            <a:pPr algn="ctr" indent="0" marL="0">
              <a:buNone/>
            </a:pPr>
            <a:r>
              <a:rPr lang="en-US" sz="3800" b="1" dirty="0">
                <a:solidFill>
                  <a:srgbClr val="1E2761"/>
                </a:solidFill>
                <a:latin typeface="Georgia" pitchFamily="34" charset="0"/>
                <a:ea typeface="Georgia" pitchFamily="34" charset="-122"/>
                <a:cs typeface="Georgia" pitchFamily="34" charset="-120"/>
              </a:rPr>
              <a:t>24</a:t>
            </a:r>
            <a:endParaRPr lang="en-US" sz="3800" dirty="0"/>
          </a:p>
        </p:txBody>
      </p:sp>
      <p:sp>
        <p:nvSpPr>
          <p:cNvPr id="5" name="Text 3"/>
          <p:cNvSpPr/>
          <p:nvPr/>
        </p:nvSpPr>
        <p:spPr>
          <a:xfrm>
            <a:off x="457200" y="1600200"/>
            <a:ext cx="1920240" cy="320040"/>
          </a:xfrm>
          <a:prstGeom prst="rect">
            <a:avLst/>
          </a:prstGeom>
          <a:noFill/>
          <a:ln/>
        </p:spPr>
        <p:txBody>
          <a:bodyPr wrap="square" lIns="0" tIns="0" rIns="0" bIns="0" rtlCol="0" anchor="ctr"/>
          <a:lstStyle/>
          <a:p>
            <a:pPr algn="ctr" indent="0" marL="0">
              <a:buNone/>
            </a:pPr>
            <a:r>
              <a:rPr lang="en-US" sz="1100" dirty="0">
                <a:solidFill>
                  <a:srgbClr val="5D6D7E"/>
                </a:solidFill>
                <a:latin typeface="Calibri" pitchFamily="34" charset="0"/>
                <a:ea typeface="Calibri" pitchFamily="34" charset="-122"/>
                <a:cs typeface="Calibri" pitchFamily="34" charset="-120"/>
              </a:rPr>
              <a:t>Unique Kernels</a:t>
            </a:r>
            <a:endParaRPr lang="en-US" sz="1100" dirty="0"/>
          </a:p>
        </p:txBody>
      </p:sp>
      <p:sp>
        <p:nvSpPr>
          <p:cNvPr id="6" name="Shape 4"/>
          <p:cNvSpPr/>
          <p:nvPr/>
        </p:nvSpPr>
        <p:spPr>
          <a:xfrm>
            <a:off x="2606040" y="960120"/>
            <a:ext cx="192024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Text 5"/>
          <p:cNvSpPr/>
          <p:nvPr/>
        </p:nvSpPr>
        <p:spPr>
          <a:xfrm>
            <a:off x="2606040" y="960120"/>
            <a:ext cx="1920240" cy="640080"/>
          </a:xfrm>
          <a:prstGeom prst="rect">
            <a:avLst/>
          </a:prstGeom>
          <a:noFill/>
          <a:ln/>
        </p:spPr>
        <p:txBody>
          <a:bodyPr wrap="square" lIns="0" tIns="0" rIns="0" bIns="0" rtlCol="0" anchor="ctr"/>
          <a:lstStyle/>
          <a:p>
            <a:pPr algn="ctr" indent="0" marL="0">
              <a:buNone/>
            </a:pPr>
            <a:r>
              <a:rPr lang="en-US" sz="3800" b="1" dirty="0">
                <a:solidFill>
                  <a:srgbClr val="3B5998"/>
                </a:solidFill>
                <a:latin typeface="Georgia" pitchFamily="34" charset="0"/>
                <a:ea typeface="Georgia" pitchFamily="34" charset="-122"/>
                <a:cs typeface="Georgia" pitchFamily="34" charset="-120"/>
              </a:rPr>
              <a:t>63</a:t>
            </a:r>
            <a:endParaRPr lang="en-US" sz="3800" dirty="0"/>
          </a:p>
        </p:txBody>
      </p:sp>
      <p:sp>
        <p:nvSpPr>
          <p:cNvPr id="8" name="Text 6"/>
          <p:cNvSpPr/>
          <p:nvPr/>
        </p:nvSpPr>
        <p:spPr>
          <a:xfrm>
            <a:off x="2606040" y="1600200"/>
            <a:ext cx="1920240" cy="320040"/>
          </a:xfrm>
          <a:prstGeom prst="rect">
            <a:avLst/>
          </a:prstGeom>
          <a:noFill/>
          <a:ln/>
        </p:spPr>
        <p:txBody>
          <a:bodyPr wrap="square" lIns="0" tIns="0" rIns="0" bIns="0" rtlCol="0" anchor="ctr"/>
          <a:lstStyle/>
          <a:p>
            <a:pPr algn="ctr" indent="0" marL="0">
              <a:buNone/>
            </a:pPr>
            <a:r>
              <a:rPr lang="en-US" sz="1100" dirty="0">
                <a:solidFill>
                  <a:srgbClr val="5D6D7E"/>
                </a:solidFill>
                <a:latin typeface="Calibri" pitchFamily="34" charset="0"/>
                <a:ea typeface="Calibri" pitchFamily="34" charset="-122"/>
                <a:cs typeface="Calibri" pitchFamily="34" charset="-120"/>
              </a:rPr>
              <a:t>Specs Generated</a:t>
            </a:r>
            <a:endParaRPr lang="en-US" sz="1100" dirty="0"/>
          </a:p>
        </p:txBody>
      </p:sp>
      <p:sp>
        <p:nvSpPr>
          <p:cNvPr id="9" name="Shape 7"/>
          <p:cNvSpPr/>
          <p:nvPr/>
        </p:nvSpPr>
        <p:spPr>
          <a:xfrm>
            <a:off x="4754880" y="960120"/>
            <a:ext cx="192024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Text 8"/>
          <p:cNvSpPr/>
          <p:nvPr/>
        </p:nvSpPr>
        <p:spPr>
          <a:xfrm>
            <a:off x="4754880" y="960120"/>
            <a:ext cx="1920240" cy="640080"/>
          </a:xfrm>
          <a:prstGeom prst="rect">
            <a:avLst/>
          </a:prstGeom>
          <a:noFill/>
          <a:ln/>
        </p:spPr>
        <p:txBody>
          <a:bodyPr wrap="square" lIns="0" tIns="0" rIns="0" bIns="0" rtlCol="0" anchor="ctr"/>
          <a:lstStyle/>
          <a:p>
            <a:pPr algn="ctr" indent="0" marL="0">
              <a:buNone/>
            </a:pPr>
            <a:r>
              <a:rPr lang="en-US" sz="3800" b="1" dirty="0">
                <a:solidFill>
                  <a:srgbClr val="1ABC9C"/>
                </a:solidFill>
                <a:latin typeface="Georgia" pitchFamily="34" charset="0"/>
                <a:ea typeface="Georgia" pitchFamily="34" charset="-122"/>
                <a:cs typeface="Georgia" pitchFamily="34" charset="-120"/>
              </a:rPr>
              <a:t>3</a:t>
            </a:r>
            <a:endParaRPr lang="en-US" sz="3800" dirty="0"/>
          </a:p>
        </p:txBody>
      </p:sp>
      <p:sp>
        <p:nvSpPr>
          <p:cNvPr id="11" name="Text 9"/>
          <p:cNvSpPr/>
          <p:nvPr/>
        </p:nvSpPr>
        <p:spPr>
          <a:xfrm>
            <a:off x="4754880" y="1600200"/>
            <a:ext cx="1920240" cy="320040"/>
          </a:xfrm>
          <a:prstGeom prst="rect">
            <a:avLst/>
          </a:prstGeom>
          <a:noFill/>
          <a:ln/>
        </p:spPr>
        <p:txBody>
          <a:bodyPr wrap="square" lIns="0" tIns="0" rIns="0" bIns="0" rtlCol="0" anchor="ctr"/>
          <a:lstStyle/>
          <a:p>
            <a:pPr algn="ctr" indent="0" marL="0">
              <a:buNone/>
            </a:pPr>
            <a:r>
              <a:rPr lang="en-US" sz="1100" dirty="0">
                <a:solidFill>
                  <a:srgbClr val="5D6D7E"/>
                </a:solidFill>
                <a:latin typeface="Calibri" pitchFamily="34" charset="0"/>
                <a:ea typeface="Calibri" pitchFamily="34" charset="-122"/>
                <a:cs typeface="Calibri" pitchFamily="34" charset="-120"/>
              </a:rPr>
              <a:t>APIs (NEW: OpenCL)</a:t>
            </a:r>
            <a:endParaRPr lang="en-US" sz="1100" dirty="0"/>
          </a:p>
        </p:txBody>
      </p:sp>
      <p:sp>
        <p:nvSpPr>
          <p:cNvPr id="12" name="Shape 10"/>
          <p:cNvSpPr/>
          <p:nvPr/>
        </p:nvSpPr>
        <p:spPr>
          <a:xfrm>
            <a:off x="6903720" y="960120"/>
            <a:ext cx="1920240" cy="10515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Text 11"/>
          <p:cNvSpPr/>
          <p:nvPr/>
        </p:nvSpPr>
        <p:spPr>
          <a:xfrm>
            <a:off x="6903720" y="960120"/>
            <a:ext cx="1920240" cy="640080"/>
          </a:xfrm>
          <a:prstGeom prst="rect">
            <a:avLst/>
          </a:prstGeom>
          <a:noFill/>
          <a:ln/>
        </p:spPr>
        <p:txBody>
          <a:bodyPr wrap="square" lIns="0" tIns="0" rIns="0" bIns="0" rtlCol="0" anchor="ctr"/>
          <a:lstStyle/>
          <a:p>
            <a:pPr algn="ctr" indent="0" marL="0">
              <a:buNone/>
            </a:pPr>
            <a:r>
              <a:rPr lang="en-US" sz="3800" b="1" dirty="0">
                <a:solidFill>
                  <a:srgbClr val="F39C12"/>
                </a:solidFill>
                <a:latin typeface="Georgia" pitchFamily="34" charset="0"/>
                <a:ea typeface="Georgia" pitchFamily="34" charset="-122"/>
                <a:cs typeface="Georgia" pitchFamily="34" charset="-120"/>
              </a:rPr>
              <a:t>6</a:t>
            </a:r>
            <a:endParaRPr lang="en-US" sz="3800" dirty="0"/>
          </a:p>
        </p:txBody>
      </p:sp>
      <p:sp>
        <p:nvSpPr>
          <p:cNvPr id="14" name="Text 12"/>
          <p:cNvSpPr/>
          <p:nvPr/>
        </p:nvSpPr>
        <p:spPr>
          <a:xfrm>
            <a:off x="6903720" y="1600200"/>
            <a:ext cx="1920240" cy="320040"/>
          </a:xfrm>
          <a:prstGeom prst="rect">
            <a:avLst/>
          </a:prstGeom>
          <a:noFill/>
          <a:ln/>
        </p:spPr>
        <p:txBody>
          <a:bodyPr wrap="square" lIns="0" tIns="0" rIns="0" bIns="0" rtlCol="0" anchor="ctr"/>
          <a:lstStyle/>
          <a:p>
            <a:pPr algn="ctr" indent="0" marL="0">
              <a:buNone/>
            </a:pPr>
            <a:r>
              <a:rPr lang="en-US" sz="1100" dirty="0">
                <a:solidFill>
                  <a:srgbClr val="5D6D7E"/>
                </a:solidFill>
                <a:latin typeface="Calibri" pitchFamily="34" charset="0"/>
                <a:ea typeface="Calibri" pitchFamily="34" charset="-122"/>
                <a:cs typeface="Calibri" pitchFamily="34" charset="-120"/>
              </a:rPr>
              <a:t>HeCBench Overlaps</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4114800" cy="914400"/>
        </p:xfrm>
        <a:graphic>
          <a:graphicData uri="http://schemas.openxmlformats.org/drawingml/2006/table">
            <a:tbl>
              <a:tblPr/>
              <a:tblGrid>
                <a:gridCol w="1645920"/>
                <a:gridCol w="1097280"/>
                <a:gridCol w="1371600"/>
              </a:tblGrid>
              <a:tr h="3200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API</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Variants</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Coverage</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r>
              <a:tr h="3200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CUDA</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23 / 24</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27AE60"/>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320040">
                <a:tc>
                  <a:txBody>
                    <a:bodyPr/>
                    <a:lstStyle/>
                    <a:p>
                      <a:pPr indent="0" marL="0">
                        <a:buNone/>
                      </a:pPr>
                      <a:r>
                        <a:rPr lang="en-US" sz="1100" b="1" dirty="0">
                          <a:solidFill>
                            <a:srgbClr val="1ABC9C"/>
                          </a:solidFill>
                          <a:latin typeface="Calibri" pitchFamily="34" charset="0"/>
                          <a:ea typeface="Calibri" pitchFamily="34" charset="-122"/>
                          <a:cs typeface="Calibri" pitchFamily="34" charset="-120"/>
                        </a:rPr>
                        <a:t>OpenCL (NEW)</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21 / 24</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1ABC9C"/>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32004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OpenMP</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19 / 24</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100" b="1" dirty="0">
                          <a:solidFill>
                            <a:srgbClr val="1E2761"/>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bl>
          </a:graphicData>
        </a:graphic>
      </p:graphicFrame>
      <p:sp>
        <p:nvSpPr>
          <p:cNvPr id="16" name="Shape 13"/>
          <p:cNvSpPr/>
          <p:nvPr/>
        </p:nvSpPr>
        <p:spPr>
          <a:xfrm>
            <a:off x="4846320" y="2286000"/>
            <a:ext cx="3840480" cy="1920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Text 14"/>
          <p:cNvSpPr/>
          <p:nvPr/>
        </p:nvSpPr>
        <p:spPr>
          <a:xfrm>
            <a:off x="5029200" y="2331720"/>
            <a:ext cx="34747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Highlights</a:t>
            </a:r>
            <a:endParaRPr lang="en-US" sz="1300" dirty="0"/>
          </a:p>
        </p:txBody>
      </p:sp>
      <p:sp>
        <p:nvSpPr>
          <p:cNvPr id="18" name="Text 15"/>
          <p:cNvSpPr/>
          <p:nvPr/>
        </p:nvSpPr>
        <p:spPr>
          <a:xfrm>
            <a:off x="5029200" y="2697480"/>
            <a:ext cx="3474720" cy="13716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OpenCL added as 3rd API — first time in ParBench</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Automated spec generation via generate_rodinia_specs.py</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6 kernels overlap with HeCBench (backprop, gaussian, lud, nn, nw, pathfinder)</a:t>
            </a:r>
            <a:endParaRPr lang="en-US" sz="1000" dirty="0"/>
          </a:p>
          <a:p>
            <a:pPr marL="342900" indent="-342900">
              <a:spcAft>
                <a:spcPts val="400"/>
              </a:spcAft>
              <a:buSzPct val="100000"/>
              <a:buChar char="•"/>
            </a:pPr>
            <a:r>
              <a:rPr lang="en-US" sz="1000" dirty="0">
                <a:solidFill>
                  <a:srgbClr val="2C3E50"/>
                </a:solidFill>
                <a:latin typeface="Calibri" pitchFamily="34" charset="0"/>
                <a:ea typeface="Calibri" pitchFamily="34" charset="-122"/>
                <a:cs typeface="Calibri" pitchFamily="34" charset="-120"/>
              </a:rPr>
              <a:t>Domains: stencil, graph, ML, molecular dynamics, image processing, bioinformatics</a:t>
            </a:r>
            <a:endParaRPr lang="en-US" sz="1000" dirty="0"/>
          </a:p>
        </p:txBody>
      </p:sp>
      <p:sp>
        <p:nvSpPr>
          <p:cNvPr id="19" name="Text 16"/>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analysis/rodinia_survey.md, analysis/rodinia_survey.json</a:t>
            </a:r>
            <a:endParaRPr lang="en-US" sz="800" dirty="0"/>
          </a:p>
        </p:txBody>
      </p:sp>
      <p:sp>
        <p:nvSpPr>
          <p:cNvPr id="20" name="Text 17"/>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10 / 18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37160"/>
            <a:ext cx="8229600" cy="411480"/>
          </a:xfrm>
          <a:prstGeom prst="rect">
            <a:avLst/>
          </a:prstGeom>
          <a:noFill/>
          <a:ln/>
        </p:spPr>
        <p:txBody>
          <a:bodyPr wrap="square" lIns="0" tIns="0" rIns="0" bIns="0" rtlCol="0" anchor="ctr"/>
          <a:lstStyle/>
          <a:p>
            <a:pPr indent="0" marL="0">
              <a:buNone/>
            </a:pPr>
            <a:r>
              <a:rPr lang="en-US" sz="2400" b="1" dirty="0">
                <a:solidFill>
                  <a:srgbClr val="1E2761"/>
                </a:solidFill>
                <a:latin typeface="Georgia" pitchFamily="34" charset="0"/>
                <a:ea typeface="Georgia" pitchFamily="34" charset="-122"/>
                <a:cs typeface="Georgia" pitchFamily="34" charset="-120"/>
              </a:rPr>
              <a:t>Rodinia API Coverage Matrix</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594360"/>
          <a:ext cx="8229600" cy="914400"/>
        </p:xfrm>
        <a:graphic>
          <a:graphicData uri="http://schemas.openxmlformats.org/drawingml/2006/table">
            <a:tbl>
              <a:tblPr/>
              <a:tblGrid>
                <a:gridCol w="1645920"/>
                <a:gridCol w="1097280"/>
                <a:gridCol w="1097280"/>
                <a:gridCol w="1097280"/>
                <a:gridCol w="1097280"/>
              </a:tblGrid>
              <a:tr h="173736">
                <a:tc>
                  <a:txBody>
                    <a:bodyPr/>
                    <a:lstStyle/>
                    <a:p>
                      <a:pPr indent="0" marL="0">
                        <a:buNone/>
                      </a:pPr>
                      <a:r>
                        <a:rPr lang="en-US" sz="700" b="1" dirty="0">
                          <a:solidFill>
                            <a:srgbClr val="FFFFFF"/>
                          </a:solidFill>
                          <a:latin typeface="Calibri" pitchFamily="34" charset="0"/>
                          <a:ea typeface="Calibri" pitchFamily="34" charset="-122"/>
                          <a:cs typeface="Calibri" pitchFamily="34" charset="-120"/>
                        </a:rPr>
                        <a:t>Kernel</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1E2761"/>
                    </a:solidFill>
                  </a:tcPr>
                </a:tc>
                <a:tc>
                  <a:txBody>
                    <a:bodyPr/>
                    <a:lstStyle/>
                    <a:p>
                      <a:pPr algn="ctr" indent="0" marL="0">
                        <a:buNone/>
                      </a:pPr>
                      <a:r>
                        <a:rPr lang="en-US" sz="700" b="1" dirty="0">
                          <a:solidFill>
                            <a:srgbClr val="FFFFFF"/>
                          </a:solidFill>
                          <a:latin typeface="Calibri" pitchFamily="34" charset="0"/>
                          <a:ea typeface="Calibri" pitchFamily="34" charset="-122"/>
                          <a:cs typeface="Calibri" pitchFamily="34" charset="-120"/>
                        </a:rPr>
                        <a:t>CUDA</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1E2761"/>
                    </a:solidFill>
                  </a:tcPr>
                </a:tc>
                <a:tc>
                  <a:txBody>
                    <a:bodyPr/>
                    <a:lstStyle/>
                    <a:p>
                      <a:pPr algn="ctr" indent="0" marL="0">
                        <a:buNone/>
                      </a:pPr>
                      <a:r>
                        <a:rPr lang="en-US" sz="700" b="1" dirty="0">
                          <a:solidFill>
                            <a:srgbClr val="FFFFFF"/>
                          </a:solidFill>
                          <a:latin typeface="Calibri" pitchFamily="34" charset="0"/>
                          <a:ea typeface="Calibri" pitchFamily="34" charset="-122"/>
                          <a:cs typeface="Calibri" pitchFamily="34" charset="-120"/>
                        </a:rPr>
                        <a:t>OpenCL</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1E2761"/>
                    </a:solidFill>
                  </a:tcPr>
                </a:tc>
                <a:tc>
                  <a:txBody>
                    <a:bodyPr/>
                    <a:lstStyle/>
                    <a:p>
                      <a:pPr algn="ctr" indent="0" marL="0">
                        <a:buNone/>
                      </a:pPr>
                      <a:r>
                        <a:rPr lang="en-US" sz="700" b="1" dirty="0">
                          <a:solidFill>
                            <a:srgbClr val="FFFFFF"/>
                          </a:solidFill>
                          <a:latin typeface="Calibri" pitchFamily="34" charset="0"/>
                          <a:ea typeface="Calibri" pitchFamily="34" charset="-122"/>
                          <a:cs typeface="Calibri" pitchFamily="34" charset="-120"/>
                        </a:rPr>
                        <a:t>OMP</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1E2761"/>
                    </a:solidFill>
                  </a:tcPr>
                </a:tc>
                <a:tc>
                  <a:txBody>
                    <a:bodyPr/>
                    <a:lstStyle/>
                    <a:p>
                      <a:pPr algn="ctr" indent="0" marL="0">
                        <a:buNone/>
                      </a:pPr>
                      <a:r>
                        <a:rPr lang="en-US" sz="700" b="1" dirty="0">
                          <a:solidFill>
                            <a:srgbClr val="FFFFFF"/>
                          </a:solidFill>
                          <a:latin typeface="Calibri" pitchFamily="34" charset="0"/>
                          <a:ea typeface="Calibri" pitchFamily="34" charset="-122"/>
                          <a:cs typeface="Calibri" pitchFamily="34" charset="-120"/>
                        </a:rPr>
                        <a:t>Overlap</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1E2761"/>
                    </a:solidFill>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b+tree</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backprop</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F39C1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bfs</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cfd</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dwt2d</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E74C3C"/>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gaussian</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E74C3C"/>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F39C1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heartwall</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hotspot</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hotspot3D</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huffman</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E74C3C"/>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E74C3C"/>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hybridsort</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E74C3C"/>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kmeans</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lavaMD</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leukocyte</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lud</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F39C1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mummergpu</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E74C3C"/>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myocyte</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nn</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F39C1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nw</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F39C1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particlefilter</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pathfinder</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dirty="0">
                          <a:solidFill>
                            <a:srgbClr val="F39C12"/>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srad</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r h="173736">
                <a:tc>
                  <a:txBody>
                    <a:bodyPr/>
                    <a:lstStyle/>
                    <a:p>
                      <a:pPr indent="0" marL="0">
                        <a:buNone/>
                      </a:pPr>
                      <a:r>
                        <a:rPr lang="en-US" sz="700" dirty="0">
                          <a:solidFill>
                            <a:srgbClr val="2C3E50"/>
                          </a:solidFill>
                          <a:latin typeface="Consolas" pitchFamily="34" charset="0"/>
                          <a:ea typeface="Consolas" pitchFamily="34" charset="-122"/>
                          <a:cs typeface="Consolas" pitchFamily="34" charset="-120"/>
                        </a:rPr>
                        <a:t>streamcluster</a:t>
                      </a:r>
                      <a:endParaRPr lang="en-US" sz="700" dirty="0">
                        <a:latin typeface="Consolas" charset="0"/>
                        <a:ea typeface="Consolas" charset="0"/>
                        <a:cs typeface="Consolas"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r>
                        <a:rPr lang="en-US" sz="700" b="1" dirty="0">
                          <a:solidFill>
                            <a:srgbClr val="27AE60"/>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c>
                  <a:txBody>
                    <a:bodyPr/>
                    <a:lstStyle/>
                    <a:p>
                      <a:pPr algn="ctr" indent="0" marL="0">
                        <a:buNone/>
                      </a:pPr>
                      <a:endParaRPr lang="en-US" sz="700" dirty="0">
                        <a:latin typeface="Calibri" charset="0"/>
                        <a:ea typeface="Calibri" charset="0"/>
                        <a:cs typeface="Calibri" charset="0"/>
                      </a:endParaRPr>
                    </a:p>
                  </a:txBody>
                  <a:tcPr marL="91440" marR="91440" marT="45720" marB="45720">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tcPr>
                </a:tc>
              </a:tr>
            </a:tbl>
          </a:graphicData>
        </a:graphic>
      </p:graphicFrame>
      <p:sp>
        <p:nvSpPr>
          <p:cNvPr id="4" name="Text 1"/>
          <p:cNvSpPr/>
          <p:nvPr/>
        </p:nvSpPr>
        <p:spPr>
          <a:xfrm>
            <a:off x="457200" y="4800600"/>
            <a:ext cx="8229600" cy="182880"/>
          </a:xfrm>
          <a:prstGeom prst="rect">
            <a:avLst/>
          </a:prstGeom>
          <a:noFill/>
          <a:ln/>
        </p:spPr>
        <p:txBody>
          <a:bodyPr wrap="square" lIns="0" tIns="0" rIns="0" bIns="0"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rng excluded (only 'others' API). ✓ = present  ✗ = missing  ⚠ = HeCBench overlap</a:t>
            </a:r>
            <a:endParaRPr lang="en-US" sz="800" dirty="0"/>
          </a:p>
        </p:txBody>
      </p:sp>
      <p:sp>
        <p:nvSpPr>
          <p:cNvPr id="5" name="Text 2"/>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11 / 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API Gap Analysis</a:t>
            </a:r>
            <a:endParaRPr lang="en-US" sz="28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Identifies missing API variants for each Rodinia kernel — feeds directly into the Creation pillar</a:t>
            </a:r>
            <a:endParaRPr lang="en-US" sz="1200" dirty="0"/>
          </a:p>
        </p:txBody>
      </p:sp>
      <p:sp>
        <p:nvSpPr>
          <p:cNvPr id="4" name="Shape 2"/>
          <p:cNvSpPr/>
          <p:nvPr/>
        </p:nvSpPr>
        <p:spPr>
          <a:xfrm>
            <a:off x="457200" y="132588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1325880"/>
            <a:ext cx="54864" cy="1645920"/>
          </a:xfrm>
          <a:prstGeom prst="rect">
            <a:avLst/>
          </a:prstGeom>
          <a:solidFill>
            <a:srgbClr val="E74C3C"/>
          </a:solidFill>
          <a:ln/>
        </p:spPr>
      </p:sp>
      <p:sp>
        <p:nvSpPr>
          <p:cNvPr id="6" name="Text 4"/>
          <p:cNvSpPr/>
          <p:nvPr/>
        </p:nvSpPr>
        <p:spPr>
          <a:xfrm>
            <a:off x="685800" y="1371600"/>
            <a:ext cx="3474720" cy="320040"/>
          </a:xfrm>
          <a:prstGeom prst="rect">
            <a:avLst/>
          </a:prstGeom>
          <a:noFill/>
          <a:ln/>
        </p:spPr>
        <p:txBody>
          <a:bodyPr wrap="square" lIns="0" tIns="0" rIns="0" bIns="0" rtlCol="0" anchor="ctr"/>
          <a:lstStyle/>
          <a:p>
            <a:pPr indent="0" marL="0">
              <a:buNone/>
            </a:pPr>
            <a:r>
              <a:rPr lang="en-US" sz="1400" b="1" dirty="0">
                <a:solidFill>
                  <a:srgbClr val="E74C3C"/>
                </a:solidFill>
                <a:latin typeface="Calibri" pitchFamily="34" charset="0"/>
                <a:ea typeface="Calibri" pitchFamily="34" charset="-122"/>
                <a:cs typeface="Calibri" pitchFamily="34" charset="-120"/>
              </a:rPr>
              <a:t>Missing OpenCL (2 kernels)</a:t>
            </a:r>
            <a:endParaRPr lang="en-US" sz="1400" dirty="0"/>
          </a:p>
        </p:txBody>
      </p:sp>
      <p:sp>
        <p:nvSpPr>
          <p:cNvPr id="7" name="Text 5"/>
          <p:cNvSpPr/>
          <p:nvPr/>
        </p:nvSpPr>
        <p:spPr>
          <a:xfrm>
            <a:off x="685800" y="1737360"/>
            <a:ext cx="3474720" cy="1097280"/>
          </a:xfrm>
          <a:prstGeom prst="rect">
            <a:avLst/>
          </a:prstGeom>
          <a:noFill/>
          <a:ln/>
        </p:spPr>
        <p:txBody>
          <a:bodyPr wrap="square" lIns="0" tIns="0" rIns="0" bIns="0" rtlCol="0" anchor="ctr"/>
          <a:lstStyle/>
          <a:p>
            <a:pPr indent="0" marL="0">
              <a:buNone/>
            </a:pPr>
            <a:r>
              <a:rPr lang="en-US" sz="1100" b="1" dirty="0">
                <a:solidFill>
                  <a:srgbClr val="2C3E50"/>
                </a:solidFill>
                <a:latin typeface="Calibri" pitchFamily="34" charset="0"/>
                <a:ea typeface="Calibri" pitchFamily="34" charset="-122"/>
                <a:cs typeface="Calibri" pitchFamily="34" charset="-120"/>
              </a:rPr>
              <a:t>huffman</a:t>
            </a:r>
            <a:endParaRPr lang="en-US" sz="1100" dirty="0"/>
          </a:p>
          <a:p>
            <a:pPr indent="0" marL="0">
              <a:buNone/>
            </a:pPr>
            <a:r>
              <a:rPr lang="en-US" sz="1000" dirty="0">
                <a:solidFill>
                  <a:srgbClr val="5D6D7E"/>
                </a:solidFill>
                <a:latin typeface="Calibri" pitchFamily="34" charset="0"/>
                <a:ea typeface="Calibri" pitchFamily="34" charset="-122"/>
                <a:cs typeface="Calibri" pitchFamily="34" charset="-120"/>
              </a:rPr>
              <a:t>  has: CUDA only</a:t>
            </a:r>
            <a:endParaRPr lang="en-US" sz="1100" dirty="0"/>
          </a:p>
          <a:p>
            <a:pPr indent="0" marL="0">
              <a:buNone/>
            </a:pPr>
            <a:r>
              <a:rPr lang="en-US" sz="1100" b="1" dirty="0">
                <a:solidFill>
                  <a:srgbClr val="2C3E50"/>
                </a:solidFill>
                <a:latin typeface="Calibri" pitchFamily="34" charset="0"/>
                <a:ea typeface="Calibri" pitchFamily="34" charset="-122"/>
                <a:cs typeface="Calibri" pitchFamily="34" charset="-120"/>
              </a:rPr>
              <a:t>mummergpu</a:t>
            </a:r>
            <a:endParaRPr lang="en-US" sz="1100" dirty="0"/>
          </a:p>
          <a:p>
            <a:pPr indent="0" marL="0">
              <a:buNone/>
            </a:pPr>
            <a:r>
              <a:rPr lang="en-US" sz="1000" dirty="0">
                <a:solidFill>
                  <a:srgbClr val="5D6D7E"/>
                </a:solidFill>
                <a:latin typeface="Calibri" pitchFamily="34" charset="0"/>
                <a:ea typeface="Calibri" pitchFamily="34" charset="-122"/>
                <a:cs typeface="Calibri" pitchFamily="34" charset="-120"/>
              </a:rPr>
              <a:t>  has: CUDA, OpenMP</a:t>
            </a:r>
            <a:endParaRPr lang="en-US" sz="1100" dirty="0"/>
          </a:p>
        </p:txBody>
      </p:sp>
      <p:sp>
        <p:nvSpPr>
          <p:cNvPr id="8" name="Shape 6"/>
          <p:cNvSpPr/>
          <p:nvPr/>
        </p:nvSpPr>
        <p:spPr>
          <a:xfrm>
            <a:off x="4754880" y="1325880"/>
            <a:ext cx="39319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4754880" y="1325880"/>
            <a:ext cx="54864" cy="1645920"/>
          </a:xfrm>
          <a:prstGeom prst="rect">
            <a:avLst/>
          </a:prstGeom>
          <a:solidFill>
            <a:srgbClr val="F39C12"/>
          </a:solidFill>
          <a:ln/>
        </p:spPr>
      </p:sp>
      <p:sp>
        <p:nvSpPr>
          <p:cNvPr id="10" name="Text 8"/>
          <p:cNvSpPr/>
          <p:nvPr/>
        </p:nvSpPr>
        <p:spPr>
          <a:xfrm>
            <a:off x="4983480" y="1371600"/>
            <a:ext cx="3474720" cy="320040"/>
          </a:xfrm>
          <a:prstGeom prst="rect">
            <a:avLst/>
          </a:prstGeom>
          <a:noFill/>
          <a:ln/>
        </p:spPr>
        <p:txBody>
          <a:bodyPr wrap="square" lIns="0" tIns="0" rIns="0" bIns="0" rtlCol="0" anchor="ctr"/>
          <a:lstStyle/>
          <a:p>
            <a:pPr indent="0" marL="0">
              <a:buNone/>
            </a:pPr>
            <a:r>
              <a:rPr lang="en-US" sz="1400" b="1" dirty="0">
                <a:solidFill>
                  <a:srgbClr val="F39C12"/>
                </a:solidFill>
                <a:latin typeface="Calibri" pitchFamily="34" charset="0"/>
                <a:ea typeface="Calibri" pitchFamily="34" charset="-122"/>
                <a:cs typeface="Calibri" pitchFamily="34" charset="-120"/>
              </a:rPr>
              <a:t>Missing OpenMP (4 kernels)</a:t>
            </a:r>
            <a:endParaRPr lang="en-US" sz="1400" dirty="0"/>
          </a:p>
        </p:txBody>
      </p:sp>
      <p:sp>
        <p:nvSpPr>
          <p:cNvPr id="11" name="Text 9"/>
          <p:cNvSpPr/>
          <p:nvPr/>
        </p:nvSpPr>
        <p:spPr>
          <a:xfrm>
            <a:off x="4983480" y="1737360"/>
            <a:ext cx="3474720" cy="1097280"/>
          </a:xfrm>
          <a:prstGeom prst="rect">
            <a:avLst/>
          </a:prstGeom>
          <a:noFill/>
          <a:ln/>
        </p:spPr>
        <p:txBody>
          <a:bodyPr wrap="square" lIns="0" tIns="0" rIns="0" bIns="0" rtlCol="0" anchor="ctr"/>
          <a:lstStyle/>
          <a:p>
            <a:pPr indent="0" marL="0">
              <a:buNone/>
            </a:pPr>
            <a:r>
              <a:rPr lang="en-US" sz="1100" b="1" dirty="0">
                <a:solidFill>
                  <a:srgbClr val="2C3E50"/>
                </a:solidFill>
                <a:latin typeface="Calibri" pitchFamily="34" charset="0"/>
                <a:ea typeface="Calibri" pitchFamily="34" charset="-122"/>
                <a:cs typeface="Calibri" pitchFamily="34" charset="-120"/>
              </a:rPr>
              <a:t>dwt2d</a:t>
            </a:r>
            <a:endParaRPr lang="en-US" sz="1100" dirty="0"/>
          </a:p>
          <a:p>
            <a:pPr indent="0" marL="0">
              <a:buNone/>
            </a:pPr>
            <a:r>
              <a:rPr lang="en-US" sz="1000" dirty="0">
                <a:solidFill>
                  <a:srgbClr val="5D6D7E"/>
                </a:solidFill>
                <a:latin typeface="Calibri" pitchFamily="34" charset="0"/>
                <a:ea typeface="Calibri" pitchFamily="34" charset="-122"/>
                <a:cs typeface="Calibri" pitchFamily="34" charset="-120"/>
              </a:rPr>
              <a:t>  has: CUDA, OpenCL</a:t>
            </a:r>
            <a:endParaRPr lang="en-US" sz="1100" dirty="0"/>
          </a:p>
          <a:p>
            <a:pPr indent="0" marL="0">
              <a:buNone/>
            </a:pPr>
            <a:r>
              <a:rPr lang="en-US" sz="1100" b="1" dirty="0">
                <a:solidFill>
                  <a:srgbClr val="2C3E50"/>
                </a:solidFill>
                <a:latin typeface="Calibri" pitchFamily="34" charset="0"/>
                <a:ea typeface="Calibri" pitchFamily="34" charset="-122"/>
                <a:cs typeface="Calibri" pitchFamily="34" charset="-120"/>
              </a:rPr>
              <a:t>gaussian</a:t>
            </a:r>
            <a:endParaRPr lang="en-US" sz="1100" dirty="0"/>
          </a:p>
          <a:p>
            <a:pPr indent="0" marL="0">
              <a:buNone/>
            </a:pPr>
            <a:r>
              <a:rPr lang="en-US" sz="1000" dirty="0">
                <a:solidFill>
                  <a:srgbClr val="5D6D7E"/>
                </a:solidFill>
                <a:latin typeface="Calibri" pitchFamily="34" charset="0"/>
                <a:ea typeface="Calibri" pitchFamily="34" charset="-122"/>
                <a:cs typeface="Calibri" pitchFamily="34" charset="-120"/>
              </a:rPr>
              <a:t>  has: CUDA, OpenCL (HeCBench overlap)</a:t>
            </a:r>
            <a:endParaRPr lang="en-US" sz="1100" dirty="0"/>
          </a:p>
          <a:p>
            <a:pPr indent="0" marL="0">
              <a:buNone/>
            </a:pPr>
            <a:r>
              <a:rPr lang="en-US" sz="1100" b="1" dirty="0">
                <a:solidFill>
                  <a:srgbClr val="2C3E50"/>
                </a:solidFill>
                <a:latin typeface="Calibri" pitchFamily="34" charset="0"/>
                <a:ea typeface="Calibri" pitchFamily="34" charset="-122"/>
                <a:cs typeface="Calibri" pitchFamily="34" charset="-120"/>
              </a:rPr>
              <a:t>huffman</a:t>
            </a:r>
            <a:endParaRPr lang="en-US" sz="1100" dirty="0"/>
          </a:p>
          <a:p>
            <a:pPr indent="0" marL="0">
              <a:buNone/>
            </a:pPr>
            <a:r>
              <a:rPr lang="en-US" sz="1000" dirty="0">
                <a:solidFill>
                  <a:srgbClr val="5D6D7E"/>
                </a:solidFill>
                <a:latin typeface="Calibri" pitchFamily="34" charset="0"/>
                <a:ea typeface="Calibri" pitchFamily="34" charset="-122"/>
                <a:cs typeface="Calibri" pitchFamily="34" charset="-120"/>
              </a:rPr>
              <a:t>  has: CUDA only</a:t>
            </a:r>
            <a:endParaRPr lang="en-US" sz="1100" dirty="0"/>
          </a:p>
          <a:p>
            <a:pPr indent="0" marL="0">
              <a:buNone/>
            </a:pPr>
            <a:r>
              <a:rPr lang="en-US" sz="1100" b="1" dirty="0">
                <a:solidFill>
                  <a:srgbClr val="2C3E50"/>
                </a:solidFill>
                <a:latin typeface="Calibri" pitchFamily="34" charset="0"/>
                <a:ea typeface="Calibri" pitchFamily="34" charset="-122"/>
                <a:cs typeface="Calibri" pitchFamily="34" charset="-120"/>
              </a:rPr>
              <a:t>hybridsort</a:t>
            </a:r>
            <a:endParaRPr lang="en-US" sz="1100" dirty="0"/>
          </a:p>
          <a:p>
            <a:pPr indent="0" marL="0">
              <a:buNone/>
            </a:pPr>
            <a:r>
              <a:rPr lang="en-US" sz="1000" dirty="0">
                <a:solidFill>
                  <a:srgbClr val="5D6D7E"/>
                </a:solidFill>
                <a:latin typeface="Calibri" pitchFamily="34" charset="0"/>
                <a:ea typeface="Calibri" pitchFamily="34" charset="-122"/>
                <a:cs typeface="Calibri" pitchFamily="34" charset="-120"/>
              </a:rPr>
              <a:t>  has: CUDA, OpenCL</a:t>
            </a:r>
            <a:endParaRPr lang="en-US" sz="1100" dirty="0"/>
          </a:p>
        </p:txBody>
      </p:sp>
      <p:sp>
        <p:nvSpPr>
          <p:cNvPr id="12" name="Shape 10"/>
          <p:cNvSpPr/>
          <p:nvPr/>
        </p:nvSpPr>
        <p:spPr>
          <a:xfrm>
            <a:off x="457200" y="3337560"/>
            <a:ext cx="8229600" cy="1097280"/>
          </a:xfrm>
          <a:prstGeom prst="rect">
            <a:avLst/>
          </a:prstGeom>
          <a:solidFill>
            <a:srgbClr val="E8F0FE"/>
          </a:solidFill>
          <a:ln/>
        </p:spPr>
      </p:sp>
      <p:sp>
        <p:nvSpPr>
          <p:cNvPr id="13" name="Text 11"/>
          <p:cNvSpPr/>
          <p:nvPr/>
        </p:nvSpPr>
        <p:spPr>
          <a:xfrm>
            <a:off x="640080" y="3364992"/>
            <a:ext cx="777240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FOUR PILLARS: CREATION vs AUGMENTATION</a:t>
            </a:r>
            <a:endParaRPr lang="en-US" sz="1100" dirty="0"/>
          </a:p>
        </p:txBody>
      </p:sp>
      <p:sp>
        <p:nvSpPr>
          <p:cNvPr id="14" name="Text 12"/>
          <p:cNvSpPr/>
          <p:nvPr/>
        </p:nvSpPr>
        <p:spPr>
          <a:xfrm>
            <a:off x="640080" y="3611880"/>
            <a:ext cx="7772400" cy="685800"/>
          </a:xfrm>
          <a:prstGeom prst="rect">
            <a:avLst/>
          </a:prstGeom>
          <a:noFill/>
          <a:ln/>
        </p:spPr>
        <p:txBody>
          <a:bodyPr wrap="square" lIns="0" tIns="0" rIns="0" bIns="0" rtlCol="0" anchor="ctr"/>
          <a:lstStyle/>
          <a:p>
            <a:pPr indent="0" marL="0">
              <a:buNone/>
            </a:pPr>
            <a:r>
              <a:rPr lang="en-US" sz="1200" dirty="0">
                <a:solidFill>
                  <a:srgbClr val="2C3E50"/>
                </a:solidFill>
                <a:latin typeface="Calibri" pitchFamily="34" charset="0"/>
                <a:ea typeface="Calibri" pitchFamily="34" charset="-122"/>
                <a:cs typeface="Calibri" pitchFamily="34" charset="-120"/>
              </a:rPr>
              <a:t>These gaps are addressed by the CREATION pillar — AI generates missing API variants from existing source. This is distinct from AUGMENTATION, which uses static, rule-based transforms on existing code to prevent training-data contamination.</a:t>
            </a:r>
            <a:endParaRPr lang="en-US" sz="1200" dirty="0"/>
          </a:p>
        </p:txBody>
      </p:sp>
      <p:sp>
        <p:nvSpPr>
          <p:cNvPr id="15" name="Text 13"/>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analysis/rodinia_api_gaps.md</a:t>
            </a:r>
            <a:endParaRPr lang="en-US" sz="800" dirty="0"/>
          </a:p>
        </p:txBody>
      </p:sp>
      <p:sp>
        <p:nvSpPr>
          <p:cNvPr id="16" name="Text 14"/>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12 / 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ParBench Today: Combined Scale</a:t>
            </a:r>
            <a:endParaRPr lang="en-US" sz="2800" dirty="0"/>
          </a:p>
        </p:txBody>
      </p:sp>
      <p:sp>
        <p:nvSpPr>
          <p:cNvPr id="3" name="Shape 1"/>
          <p:cNvSpPr/>
          <p:nvPr/>
        </p:nvSpPr>
        <p:spPr>
          <a:xfrm>
            <a:off x="457200" y="960120"/>
            <a:ext cx="192024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Text 2"/>
          <p:cNvSpPr/>
          <p:nvPr/>
        </p:nvSpPr>
        <p:spPr>
          <a:xfrm>
            <a:off x="457200" y="987552"/>
            <a:ext cx="1920240" cy="731520"/>
          </a:xfrm>
          <a:prstGeom prst="rect">
            <a:avLst/>
          </a:prstGeom>
          <a:noFill/>
          <a:ln/>
        </p:spPr>
        <p:txBody>
          <a:bodyPr wrap="square" lIns="0" tIns="0" rIns="0" bIns="0" rtlCol="0" anchor="ctr"/>
          <a:lstStyle/>
          <a:p>
            <a:pPr algn="ctr" indent="0" marL="0">
              <a:buNone/>
            </a:pPr>
            <a:r>
              <a:rPr lang="en-US" sz="4400" b="1" dirty="0">
                <a:solidFill>
                  <a:srgbClr val="1E2761"/>
                </a:solidFill>
                <a:latin typeface="Georgia" pitchFamily="34" charset="0"/>
                <a:ea typeface="Georgia" pitchFamily="34" charset="-122"/>
                <a:cs typeface="Georgia" pitchFamily="34" charset="-120"/>
              </a:rPr>
              <a:t>180</a:t>
            </a:r>
            <a:endParaRPr lang="en-US" sz="4400" dirty="0"/>
          </a:p>
        </p:txBody>
      </p:sp>
      <p:sp>
        <p:nvSpPr>
          <p:cNvPr id="5" name="Text 3"/>
          <p:cNvSpPr/>
          <p:nvPr/>
        </p:nvSpPr>
        <p:spPr>
          <a:xfrm>
            <a:off x="457200" y="1691640"/>
            <a:ext cx="1920240" cy="274320"/>
          </a:xfrm>
          <a:prstGeom prst="rect">
            <a:avLst/>
          </a:prstGeom>
          <a:noFill/>
          <a:ln/>
        </p:spPr>
        <p:txBody>
          <a:bodyPr wrap="square" lIns="0" tIns="0" rIns="0" bIns="0" rtlCol="0" anchor="ctr"/>
          <a:lstStyle/>
          <a:p>
            <a:pPr algn="ctr" indent="0" marL="0">
              <a:buNone/>
            </a:pPr>
            <a:r>
              <a:rPr lang="en-US" sz="1200" b="1" dirty="0">
                <a:solidFill>
                  <a:srgbClr val="2C3E50"/>
                </a:solidFill>
                <a:latin typeface="Calibri" pitchFamily="34" charset="0"/>
                <a:ea typeface="Calibri" pitchFamily="34" charset="-122"/>
                <a:cs typeface="Calibri" pitchFamily="34" charset="-120"/>
              </a:rPr>
              <a:t>Total Specs</a:t>
            </a:r>
            <a:endParaRPr lang="en-US" sz="1200" dirty="0"/>
          </a:p>
        </p:txBody>
      </p:sp>
      <p:sp>
        <p:nvSpPr>
          <p:cNvPr id="6" name="Text 4"/>
          <p:cNvSpPr/>
          <p:nvPr/>
        </p:nvSpPr>
        <p:spPr>
          <a:xfrm>
            <a:off x="457200" y="1965960"/>
            <a:ext cx="1920240" cy="274320"/>
          </a:xfrm>
          <a:prstGeom prst="rect">
            <a:avLst/>
          </a:prstGeom>
          <a:noFill/>
          <a:ln/>
        </p:spPr>
        <p:txBody>
          <a:bodyPr wrap="square" lIns="0" tIns="0" rIns="0" bIns="0" rtlCol="0" anchor="ctr"/>
          <a:lstStyle/>
          <a:p>
            <a:pPr algn="ctr" indent="0" marL="0">
              <a:buNone/>
            </a:pPr>
            <a:r>
              <a:rPr lang="en-US" sz="900" dirty="0">
                <a:solidFill>
                  <a:srgbClr val="5D6D7E"/>
                </a:solidFill>
                <a:latin typeface="Calibri" pitchFamily="34" charset="0"/>
                <a:ea typeface="Calibri" pitchFamily="34" charset="-122"/>
                <a:cs typeface="Calibri" pitchFamily="34" charset="-120"/>
              </a:rPr>
              <a:t>in manifest.jsonl</a:t>
            </a:r>
            <a:endParaRPr lang="en-US" sz="900" dirty="0"/>
          </a:p>
        </p:txBody>
      </p:sp>
      <p:sp>
        <p:nvSpPr>
          <p:cNvPr id="7" name="Shape 5"/>
          <p:cNvSpPr/>
          <p:nvPr/>
        </p:nvSpPr>
        <p:spPr>
          <a:xfrm>
            <a:off x="2606040" y="960120"/>
            <a:ext cx="192024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Text 6"/>
          <p:cNvSpPr/>
          <p:nvPr/>
        </p:nvSpPr>
        <p:spPr>
          <a:xfrm>
            <a:off x="2606040" y="987552"/>
            <a:ext cx="1920240" cy="731520"/>
          </a:xfrm>
          <a:prstGeom prst="rect">
            <a:avLst/>
          </a:prstGeom>
          <a:noFill/>
          <a:ln/>
        </p:spPr>
        <p:txBody>
          <a:bodyPr wrap="square" lIns="0" tIns="0" rIns="0" bIns="0" rtlCol="0" anchor="ctr"/>
          <a:lstStyle/>
          <a:p>
            <a:pPr algn="ctr" indent="0" marL="0">
              <a:buNone/>
            </a:pPr>
            <a:r>
              <a:rPr lang="en-US" sz="4400" b="1" dirty="0">
                <a:solidFill>
                  <a:srgbClr val="3B5998"/>
                </a:solidFill>
                <a:latin typeface="Georgia" pitchFamily="34" charset="0"/>
                <a:ea typeface="Georgia" pitchFamily="34" charset="-122"/>
                <a:cs typeface="Georgia" pitchFamily="34" charset="-120"/>
              </a:rPr>
              <a:t>84</a:t>
            </a:r>
            <a:endParaRPr lang="en-US" sz="4400" dirty="0"/>
          </a:p>
        </p:txBody>
      </p:sp>
      <p:sp>
        <p:nvSpPr>
          <p:cNvPr id="9" name="Text 7"/>
          <p:cNvSpPr/>
          <p:nvPr/>
        </p:nvSpPr>
        <p:spPr>
          <a:xfrm>
            <a:off x="2606040" y="1691640"/>
            <a:ext cx="1920240" cy="274320"/>
          </a:xfrm>
          <a:prstGeom prst="rect">
            <a:avLst/>
          </a:prstGeom>
          <a:noFill/>
          <a:ln/>
        </p:spPr>
        <p:txBody>
          <a:bodyPr wrap="square" lIns="0" tIns="0" rIns="0" bIns="0" rtlCol="0" anchor="ctr"/>
          <a:lstStyle/>
          <a:p>
            <a:pPr algn="ctr" indent="0" marL="0">
              <a:buNone/>
            </a:pPr>
            <a:r>
              <a:rPr lang="en-US" sz="1200" b="1" dirty="0">
                <a:solidFill>
                  <a:srgbClr val="2C3E50"/>
                </a:solidFill>
                <a:latin typeface="Calibri" pitchFamily="34" charset="0"/>
                <a:ea typeface="Calibri" pitchFamily="34" charset="-122"/>
                <a:cs typeface="Calibri" pitchFamily="34" charset="-120"/>
              </a:rPr>
              <a:t>Unique Kernels</a:t>
            </a:r>
            <a:endParaRPr lang="en-US" sz="1200" dirty="0"/>
          </a:p>
        </p:txBody>
      </p:sp>
      <p:sp>
        <p:nvSpPr>
          <p:cNvPr id="10" name="Text 8"/>
          <p:cNvSpPr/>
          <p:nvPr/>
        </p:nvSpPr>
        <p:spPr>
          <a:xfrm>
            <a:off x="2606040" y="1965960"/>
            <a:ext cx="1920240" cy="274320"/>
          </a:xfrm>
          <a:prstGeom prst="rect">
            <a:avLst/>
          </a:prstGeom>
          <a:noFill/>
          <a:ln/>
        </p:spPr>
        <p:txBody>
          <a:bodyPr wrap="square" lIns="0" tIns="0" rIns="0" bIns="0" rtlCol="0" anchor="ctr"/>
          <a:lstStyle/>
          <a:p>
            <a:pPr algn="ctr" indent="0" marL="0">
              <a:buNone/>
            </a:pPr>
            <a:r>
              <a:rPr lang="en-US" sz="900" dirty="0">
                <a:solidFill>
                  <a:srgbClr val="5D6D7E"/>
                </a:solidFill>
                <a:latin typeface="Calibri" pitchFamily="34" charset="0"/>
                <a:ea typeface="Calibri" pitchFamily="34" charset="-122"/>
                <a:cs typeface="Calibri" pitchFamily="34" charset="-120"/>
              </a:rPr>
              <a:t>60 HeCBench + 24 Rodinia</a:t>
            </a:r>
            <a:endParaRPr lang="en-US" sz="900" dirty="0"/>
          </a:p>
        </p:txBody>
      </p:sp>
      <p:sp>
        <p:nvSpPr>
          <p:cNvPr id="11" name="Shape 9"/>
          <p:cNvSpPr/>
          <p:nvPr/>
        </p:nvSpPr>
        <p:spPr>
          <a:xfrm>
            <a:off x="4754880" y="960120"/>
            <a:ext cx="192024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Text 10"/>
          <p:cNvSpPr/>
          <p:nvPr/>
        </p:nvSpPr>
        <p:spPr>
          <a:xfrm>
            <a:off x="4754880" y="987552"/>
            <a:ext cx="1920240" cy="731520"/>
          </a:xfrm>
          <a:prstGeom prst="rect">
            <a:avLst/>
          </a:prstGeom>
          <a:noFill/>
          <a:ln/>
        </p:spPr>
        <p:txBody>
          <a:bodyPr wrap="square" lIns="0" tIns="0" rIns="0" bIns="0" rtlCol="0" anchor="ctr"/>
          <a:lstStyle/>
          <a:p>
            <a:pPr algn="ctr" indent="0" marL="0">
              <a:buNone/>
            </a:pPr>
            <a:r>
              <a:rPr lang="en-US" sz="4400" b="1" dirty="0">
                <a:solidFill>
                  <a:srgbClr val="1ABC9C"/>
                </a:solidFill>
                <a:latin typeface="Georgia" pitchFamily="34" charset="0"/>
                <a:ea typeface="Georgia" pitchFamily="34" charset="-122"/>
                <a:cs typeface="Georgia" pitchFamily="34" charset="-120"/>
              </a:rPr>
              <a:t>3</a:t>
            </a:r>
            <a:endParaRPr lang="en-US" sz="4400" dirty="0"/>
          </a:p>
        </p:txBody>
      </p:sp>
      <p:sp>
        <p:nvSpPr>
          <p:cNvPr id="13" name="Text 11"/>
          <p:cNvSpPr/>
          <p:nvPr/>
        </p:nvSpPr>
        <p:spPr>
          <a:xfrm>
            <a:off x="4754880" y="1691640"/>
            <a:ext cx="1920240" cy="274320"/>
          </a:xfrm>
          <a:prstGeom prst="rect">
            <a:avLst/>
          </a:prstGeom>
          <a:noFill/>
          <a:ln/>
        </p:spPr>
        <p:txBody>
          <a:bodyPr wrap="square" lIns="0" tIns="0" rIns="0" bIns="0" rtlCol="0" anchor="ctr"/>
          <a:lstStyle/>
          <a:p>
            <a:pPr algn="ctr" indent="0" marL="0">
              <a:buNone/>
            </a:pPr>
            <a:r>
              <a:rPr lang="en-US" sz="1200" b="1" dirty="0">
                <a:solidFill>
                  <a:srgbClr val="2C3E50"/>
                </a:solidFill>
                <a:latin typeface="Calibri" pitchFamily="34" charset="0"/>
                <a:ea typeface="Calibri" pitchFamily="34" charset="-122"/>
                <a:cs typeface="Calibri" pitchFamily="34" charset="-120"/>
              </a:rPr>
              <a:t>APIs</a:t>
            </a:r>
            <a:endParaRPr lang="en-US" sz="1200" dirty="0"/>
          </a:p>
        </p:txBody>
      </p:sp>
      <p:sp>
        <p:nvSpPr>
          <p:cNvPr id="14" name="Text 12"/>
          <p:cNvSpPr/>
          <p:nvPr/>
        </p:nvSpPr>
        <p:spPr>
          <a:xfrm>
            <a:off x="4754880" y="1965960"/>
            <a:ext cx="1920240" cy="274320"/>
          </a:xfrm>
          <a:prstGeom prst="rect">
            <a:avLst/>
          </a:prstGeom>
          <a:noFill/>
          <a:ln/>
        </p:spPr>
        <p:txBody>
          <a:bodyPr wrap="square" lIns="0" tIns="0" rIns="0" bIns="0" rtlCol="0" anchor="ctr"/>
          <a:lstStyle/>
          <a:p>
            <a:pPr algn="ctr" indent="0" marL="0">
              <a:buNone/>
            </a:pPr>
            <a:r>
              <a:rPr lang="en-US" sz="900" dirty="0">
                <a:solidFill>
                  <a:srgbClr val="5D6D7E"/>
                </a:solidFill>
                <a:latin typeface="Calibri" pitchFamily="34" charset="0"/>
                <a:ea typeface="Calibri" pitchFamily="34" charset="-122"/>
                <a:cs typeface="Calibri" pitchFamily="34" charset="-120"/>
              </a:rPr>
              <a:t>CUDA, OpenMP, OpenCL</a:t>
            </a:r>
            <a:endParaRPr lang="en-US" sz="900" dirty="0"/>
          </a:p>
        </p:txBody>
      </p:sp>
      <p:sp>
        <p:nvSpPr>
          <p:cNvPr id="15" name="Shape 13"/>
          <p:cNvSpPr/>
          <p:nvPr/>
        </p:nvSpPr>
        <p:spPr>
          <a:xfrm>
            <a:off x="6903720" y="960120"/>
            <a:ext cx="192024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Text 14"/>
          <p:cNvSpPr/>
          <p:nvPr/>
        </p:nvSpPr>
        <p:spPr>
          <a:xfrm>
            <a:off x="6903720" y="987552"/>
            <a:ext cx="1920240" cy="731520"/>
          </a:xfrm>
          <a:prstGeom prst="rect">
            <a:avLst/>
          </a:prstGeom>
          <a:noFill/>
          <a:ln/>
        </p:spPr>
        <p:txBody>
          <a:bodyPr wrap="square" lIns="0" tIns="0" rIns="0" bIns="0" rtlCol="0" anchor="ctr"/>
          <a:lstStyle/>
          <a:p>
            <a:pPr algn="ctr" indent="0" marL="0">
              <a:buNone/>
            </a:pPr>
            <a:r>
              <a:rPr lang="en-US" sz="4400" b="1" dirty="0">
                <a:solidFill>
                  <a:srgbClr val="3498DB"/>
                </a:solidFill>
                <a:latin typeface="Georgia" pitchFamily="34" charset="0"/>
                <a:ea typeface="Georgia" pitchFamily="34" charset="-122"/>
                <a:cs typeface="Georgia" pitchFamily="34" charset="-120"/>
              </a:rPr>
              <a:t>2</a:t>
            </a:r>
            <a:endParaRPr lang="en-US" sz="4400" dirty="0"/>
          </a:p>
        </p:txBody>
      </p:sp>
      <p:sp>
        <p:nvSpPr>
          <p:cNvPr id="17" name="Text 15"/>
          <p:cNvSpPr/>
          <p:nvPr/>
        </p:nvSpPr>
        <p:spPr>
          <a:xfrm>
            <a:off x="6903720" y="1691640"/>
            <a:ext cx="1920240" cy="274320"/>
          </a:xfrm>
          <a:prstGeom prst="rect">
            <a:avLst/>
          </a:prstGeom>
          <a:noFill/>
          <a:ln/>
        </p:spPr>
        <p:txBody>
          <a:bodyPr wrap="square" lIns="0" tIns="0" rIns="0" bIns="0" rtlCol="0" anchor="ctr"/>
          <a:lstStyle/>
          <a:p>
            <a:pPr algn="ctr" indent="0" marL="0">
              <a:buNone/>
            </a:pPr>
            <a:r>
              <a:rPr lang="en-US" sz="1200" b="1" dirty="0">
                <a:solidFill>
                  <a:srgbClr val="2C3E50"/>
                </a:solidFill>
                <a:latin typeface="Calibri" pitchFamily="34" charset="0"/>
                <a:ea typeface="Calibri" pitchFamily="34" charset="-122"/>
                <a:cs typeface="Calibri" pitchFamily="34" charset="-120"/>
              </a:rPr>
              <a:t>Suites</a:t>
            </a:r>
            <a:endParaRPr lang="en-US" sz="1200" dirty="0"/>
          </a:p>
        </p:txBody>
      </p:sp>
      <p:sp>
        <p:nvSpPr>
          <p:cNvPr id="18" name="Text 16"/>
          <p:cNvSpPr/>
          <p:nvPr/>
        </p:nvSpPr>
        <p:spPr>
          <a:xfrm>
            <a:off x="6903720" y="1965960"/>
            <a:ext cx="1920240" cy="274320"/>
          </a:xfrm>
          <a:prstGeom prst="rect">
            <a:avLst/>
          </a:prstGeom>
          <a:noFill/>
          <a:ln/>
        </p:spPr>
        <p:txBody>
          <a:bodyPr wrap="square" lIns="0" tIns="0" rIns="0" bIns="0" rtlCol="0" anchor="ctr"/>
          <a:lstStyle/>
          <a:p>
            <a:pPr algn="ctr" indent="0" marL="0">
              <a:buNone/>
            </a:pPr>
            <a:r>
              <a:rPr lang="en-US" sz="900" dirty="0">
                <a:solidFill>
                  <a:srgbClr val="5D6D7E"/>
                </a:solidFill>
                <a:latin typeface="Calibri" pitchFamily="34" charset="0"/>
                <a:ea typeface="Calibri" pitchFamily="34" charset="-122"/>
                <a:cs typeface="Calibri" pitchFamily="34" charset="-120"/>
              </a:rPr>
              <a:t>HeCBench + Rodinia</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8229600" cy="914400"/>
        </p:xfrm>
        <a:graphic>
          <a:graphicData uri="http://schemas.openxmlformats.org/drawingml/2006/table">
            <a:tbl>
              <a:tblPr/>
              <a:tblGrid>
                <a:gridCol w="2286000"/>
                <a:gridCol w="2011680"/>
                <a:gridCol w="2011680"/>
                <a:gridCol w="1920240"/>
              </a:tblGrid>
              <a:tr h="292608">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HeCBench</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Rodinia</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1E2761"/>
                    </a:solidFill>
                  </a:tcPr>
                </a:tc>
              </a:tr>
              <a:tr h="292608">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Kernels</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292608">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CUDA specs</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292608">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OpenMP specs</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292608">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OpenCL specs</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7F8C8D"/>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dirty="0">
                          <a:solidFill>
                            <a:srgbClr val="1ABC9C"/>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1ABC9C"/>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r h="292608">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Total specs</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183*</a:t>
                      </a:r>
                      <a:endParaRPr lang="en-US" sz="1000" dirty="0">
                        <a:latin typeface="Calibri" charset="0"/>
                        <a:ea typeface="Calibri" charset="0"/>
                        <a:cs typeface="Calibri" charset="0"/>
                      </a:endParaRPr>
                    </a:p>
                  </a:txBody>
                  <a:tcPr marL="91440" marR="9144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tcPr>
                </a:tc>
              </a:tr>
            </a:tbl>
          </a:graphicData>
        </a:graphic>
      </p:graphicFrame>
      <p:sp>
        <p:nvSpPr>
          <p:cNvPr id="20" name="Text 17"/>
          <p:cNvSpPr/>
          <p:nvPr/>
        </p:nvSpPr>
        <p:spPr>
          <a:xfrm>
            <a:off x="457200" y="4434840"/>
            <a:ext cx="8229600" cy="228600"/>
          </a:xfrm>
          <a:prstGeom prst="rect">
            <a:avLst/>
          </a:prstGeom>
          <a:noFill/>
          <a:ln/>
        </p:spPr>
        <p:txBody>
          <a:bodyPr wrap="square" lIns="0" tIns="0" rIns="0" bIns="0"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*manifest.jsonl has 180 entries; 3 Rodinia specs have no manifest entry yet (rng excluded, minor sync pending)</a:t>
            </a:r>
            <a:endParaRPr lang="en-US" sz="800" dirty="0"/>
          </a:p>
        </p:txBody>
      </p:sp>
      <p:sp>
        <p:nvSpPr>
          <p:cNvPr id="21" name="Text 18"/>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manifest.jsonl (180 lines), specs/ directory (180 files)</a:t>
            </a:r>
            <a:endParaRPr lang="en-US" sz="800" dirty="0"/>
          </a:p>
        </p:txBody>
      </p:sp>
      <p:sp>
        <p:nvSpPr>
          <p:cNvPr id="22" name="Text 19"/>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13 / 18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2011680"/>
            <a:ext cx="9144000" cy="54864"/>
          </a:xfrm>
          <a:prstGeom prst="rect">
            <a:avLst/>
          </a:prstGeom>
          <a:solidFill>
            <a:srgbClr val="F1C40F"/>
          </a:solidFill>
          <a:ln/>
        </p:spPr>
      </p:sp>
      <p:sp>
        <p:nvSpPr>
          <p:cNvPr id="3" name="Text 1"/>
          <p:cNvSpPr/>
          <p:nvPr/>
        </p:nvSpPr>
        <p:spPr>
          <a:xfrm>
            <a:off x="731520" y="1097280"/>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The Four Pillars</a:t>
            </a:r>
            <a:endParaRPr lang="en-US" sz="3800" dirty="0"/>
          </a:p>
        </p:txBody>
      </p:sp>
      <p:sp>
        <p:nvSpPr>
          <p:cNvPr id="4" name="Text 2"/>
          <p:cNvSpPr/>
          <p:nvPr/>
        </p:nvSpPr>
        <p:spPr>
          <a:xfrm>
            <a:off x="731520" y="2377440"/>
            <a:ext cx="768096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structured framework for building, expanding, and validating the benchmark</a:t>
            </a:r>
            <a:endParaRPr lang="en-US" sz="16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14 / 18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The Four Pillars of ParBench</a:t>
            </a:r>
            <a:endParaRPr lang="en-US" sz="2600" dirty="0"/>
          </a:p>
        </p:txBody>
      </p:sp>
      <p:sp>
        <p:nvSpPr>
          <p:cNvPr id="3" name="Shape 1"/>
          <p:cNvSpPr/>
          <p:nvPr/>
        </p:nvSpPr>
        <p:spPr>
          <a:xfrm>
            <a:off x="457200" y="914400"/>
            <a:ext cx="3977640" cy="1783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914400"/>
            <a:ext cx="3977640" cy="411480"/>
          </a:xfrm>
          <a:prstGeom prst="rect">
            <a:avLst/>
          </a:prstGeom>
          <a:solidFill>
            <a:srgbClr val="1ABC9C"/>
          </a:solidFill>
          <a:ln/>
        </p:spPr>
      </p:sp>
      <p:sp>
        <p:nvSpPr>
          <p:cNvPr id="5" name="Text 3"/>
          <p:cNvSpPr/>
          <p:nvPr/>
        </p:nvSpPr>
        <p:spPr>
          <a:xfrm>
            <a:off x="594360" y="932688"/>
            <a:ext cx="2743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  CURATION</a:t>
            </a:r>
            <a:endParaRPr lang="en-US" sz="1500" dirty="0"/>
          </a:p>
        </p:txBody>
      </p:sp>
      <p:sp>
        <p:nvSpPr>
          <p:cNvPr id="6" name="Text 4"/>
          <p:cNvSpPr/>
          <p:nvPr/>
        </p:nvSpPr>
        <p:spPr>
          <a:xfrm>
            <a:off x="3383280" y="987552"/>
            <a:ext cx="914400" cy="274320"/>
          </a:xfrm>
          <a:prstGeom prst="rect">
            <a:avLst/>
          </a:prstGeom>
          <a:noFill/>
          <a:ln/>
        </p:spPr>
        <p:txBody>
          <a:bodyPr wrap="square" lIns="0" tIns="0" rIns="0" bIns="0" rtlCol="0" anchor="ctr"/>
          <a:lstStyle/>
          <a:p>
            <a:pPr algn="r" indent="0" marL="0">
              <a:buNone/>
            </a:pPr>
            <a:r>
              <a:rPr lang="en-US" sz="900" i="1" dirty="0">
                <a:solidFill>
                  <a:srgbClr val="FFFFFF"/>
                </a:solidFill>
                <a:latin typeface="Calibri" pitchFamily="34" charset="0"/>
                <a:ea typeface="Calibri" pitchFamily="34" charset="-122"/>
                <a:cs typeface="Calibri" pitchFamily="34" charset="-120"/>
              </a:rPr>
              <a:t>Samyak</a:t>
            </a:r>
            <a:endParaRPr lang="en-US" sz="900" dirty="0"/>
          </a:p>
        </p:txBody>
      </p:sp>
      <p:sp>
        <p:nvSpPr>
          <p:cNvPr id="7" name="Text 5"/>
          <p:cNvSpPr/>
          <p:nvPr/>
        </p:nvSpPr>
        <p:spPr>
          <a:xfrm>
            <a:off x="594360" y="1417320"/>
            <a:ext cx="3703320" cy="6858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Gathering &amp; organizing existing kernels from benchmark suites (HeCBench, Rodinia). Schema design, spec generation, manifest management.</a:t>
            </a:r>
            <a:endParaRPr lang="en-US" sz="1050" dirty="0"/>
          </a:p>
        </p:txBody>
      </p:sp>
      <p:sp>
        <p:nvSpPr>
          <p:cNvPr id="8" name="Text 6"/>
          <p:cNvSpPr/>
          <p:nvPr/>
        </p:nvSpPr>
        <p:spPr>
          <a:xfrm>
            <a:off x="594360" y="2194560"/>
            <a:ext cx="3703320" cy="365760"/>
          </a:xfrm>
          <a:prstGeom prst="rect">
            <a:avLst/>
          </a:prstGeom>
          <a:noFill/>
          <a:ln/>
        </p:spPr>
        <p:txBody>
          <a:bodyPr wrap="square" lIns="0" tIns="0" rIns="0" bIns="0" rtlCol="0" anchor="ctr"/>
          <a:lstStyle/>
          <a:p>
            <a:pPr indent="0" marL="0">
              <a:buNone/>
            </a:pPr>
            <a:r>
              <a:rPr lang="en-US" sz="900" b="1" i="1" dirty="0">
                <a:solidFill>
                  <a:srgbClr val="1ABC9C"/>
                </a:solidFill>
                <a:latin typeface="Calibri" pitchFamily="34" charset="0"/>
                <a:ea typeface="Calibri" pitchFamily="34" charset="-122"/>
                <a:cs typeface="Calibri" pitchFamily="34" charset="-120"/>
              </a:rPr>
              <a:t>Largely complete — 84 kernels, 180 specs</a:t>
            </a:r>
            <a:endParaRPr lang="en-US" sz="900" dirty="0"/>
          </a:p>
        </p:txBody>
      </p:sp>
      <p:sp>
        <p:nvSpPr>
          <p:cNvPr id="9" name="Shape 7"/>
          <p:cNvSpPr/>
          <p:nvPr/>
        </p:nvSpPr>
        <p:spPr>
          <a:xfrm>
            <a:off x="4754880" y="914400"/>
            <a:ext cx="3977640" cy="1783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4754880" y="914400"/>
            <a:ext cx="3977640" cy="411480"/>
          </a:xfrm>
          <a:prstGeom prst="rect">
            <a:avLst/>
          </a:prstGeom>
          <a:solidFill>
            <a:srgbClr val="3498DB"/>
          </a:solidFill>
          <a:ln/>
        </p:spPr>
      </p:sp>
      <p:sp>
        <p:nvSpPr>
          <p:cNvPr id="11" name="Text 9"/>
          <p:cNvSpPr/>
          <p:nvPr/>
        </p:nvSpPr>
        <p:spPr>
          <a:xfrm>
            <a:off x="4892040" y="932688"/>
            <a:ext cx="2743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2  CREATION</a:t>
            </a:r>
            <a:endParaRPr lang="en-US" sz="1500" dirty="0"/>
          </a:p>
        </p:txBody>
      </p:sp>
      <p:sp>
        <p:nvSpPr>
          <p:cNvPr id="12" name="Text 10"/>
          <p:cNvSpPr/>
          <p:nvPr/>
        </p:nvSpPr>
        <p:spPr>
          <a:xfrm>
            <a:off x="7680960" y="987552"/>
            <a:ext cx="914400" cy="274320"/>
          </a:xfrm>
          <a:prstGeom prst="rect">
            <a:avLst/>
          </a:prstGeom>
          <a:noFill/>
          <a:ln/>
        </p:spPr>
        <p:txBody>
          <a:bodyPr wrap="square" lIns="0" tIns="0" rIns="0" bIns="0" rtlCol="0" anchor="ctr"/>
          <a:lstStyle/>
          <a:p>
            <a:pPr algn="r" indent="0" marL="0">
              <a:buNone/>
            </a:pPr>
            <a:r>
              <a:rPr lang="en-US" sz="900" i="1" dirty="0">
                <a:solidFill>
                  <a:srgbClr val="FFFFFF"/>
                </a:solidFill>
                <a:latin typeface="Calibri" pitchFamily="34" charset="0"/>
                <a:ea typeface="Calibri" pitchFamily="34" charset="-122"/>
                <a:cs typeface="Calibri" pitchFamily="34" charset="-120"/>
              </a:rPr>
              <a:t>Samyak</a:t>
            </a:r>
            <a:endParaRPr lang="en-US" sz="900" dirty="0"/>
          </a:p>
        </p:txBody>
      </p:sp>
      <p:sp>
        <p:nvSpPr>
          <p:cNvPr id="13" name="Text 11"/>
          <p:cNvSpPr/>
          <p:nvPr/>
        </p:nvSpPr>
        <p:spPr>
          <a:xfrm>
            <a:off x="4892040" y="1417320"/>
            <a:ext cx="3703320" cy="6858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AI generates NEW missing API variants from existing source. Fills coverage gaps (e.g., generate OpenCL huffman from CUDA).</a:t>
            </a:r>
            <a:endParaRPr lang="en-US" sz="1050" dirty="0"/>
          </a:p>
        </p:txBody>
      </p:sp>
      <p:sp>
        <p:nvSpPr>
          <p:cNvPr id="14" name="Text 12"/>
          <p:cNvSpPr/>
          <p:nvPr/>
        </p:nvSpPr>
        <p:spPr>
          <a:xfrm>
            <a:off x="4892040" y="2194560"/>
            <a:ext cx="3703320" cy="365760"/>
          </a:xfrm>
          <a:prstGeom prst="rect">
            <a:avLst/>
          </a:prstGeom>
          <a:noFill/>
          <a:ln/>
        </p:spPr>
        <p:txBody>
          <a:bodyPr wrap="square" lIns="0" tIns="0" rIns="0" bIns="0" rtlCol="0" anchor="ctr"/>
          <a:lstStyle/>
          <a:p>
            <a:pPr indent="0" marL="0">
              <a:buNone/>
            </a:pPr>
            <a:r>
              <a:rPr lang="en-US" sz="900" b="1" i="1" dirty="0">
                <a:solidFill>
                  <a:srgbClr val="3498DB"/>
                </a:solidFill>
                <a:latin typeface="Calibri" pitchFamily="34" charset="0"/>
                <a:ea typeface="Calibri" pitchFamily="34" charset="-122"/>
                <a:cs typeface="Calibri" pitchFamily="34" charset="-120"/>
              </a:rPr>
              <a:t>Designed — feeds from gap analysis</a:t>
            </a:r>
            <a:endParaRPr lang="en-US" sz="900" dirty="0"/>
          </a:p>
        </p:txBody>
      </p:sp>
      <p:sp>
        <p:nvSpPr>
          <p:cNvPr id="15" name="Shape 13"/>
          <p:cNvSpPr/>
          <p:nvPr/>
        </p:nvSpPr>
        <p:spPr>
          <a:xfrm>
            <a:off x="457200" y="2880360"/>
            <a:ext cx="3977640" cy="1783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457200" y="2880360"/>
            <a:ext cx="3977640" cy="411480"/>
          </a:xfrm>
          <a:prstGeom prst="rect">
            <a:avLst/>
          </a:prstGeom>
          <a:solidFill>
            <a:srgbClr val="8E44AD"/>
          </a:solidFill>
          <a:ln/>
        </p:spPr>
      </p:sp>
      <p:sp>
        <p:nvSpPr>
          <p:cNvPr id="17" name="Text 15"/>
          <p:cNvSpPr/>
          <p:nvPr/>
        </p:nvSpPr>
        <p:spPr>
          <a:xfrm>
            <a:off x="594360" y="2898648"/>
            <a:ext cx="2743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  AUGMENTATION</a:t>
            </a:r>
            <a:endParaRPr lang="en-US" sz="1500" dirty="0"/>
          </a:p>
        </p:txBody>
      </p:sp>
      <p:sp>
        <p:nvSpPr>
          <p:cNvPr id="18" name="Text 16"/>
          <p:cNvSpPr/>
          <p:nvPr/>
        </p:nvSpPr>
        <p:spPr>
          <a:xfrm>
            <a:off x="3383280" y="2953512"/>
            <a:ext cx="914400" cy="274320"/>
          </a:xfrm>
          <a:prstGeom prst="rect">
            <a:avLst/>
          </a:prstGeom>
          <a:noFill/>
          <a:ln/>
        </p:spPr>
        <p:txBody>
          <a:bodyPr wrap="square" lIns="0" tIns="0" rIns="0" bIns="0" rtlCol="0" anchor="ctr"/>
          <a:lstStyle/>
          <a:p>
            <a:pPr algn="r" indent="0" marL="0">
              <a:buNone/>
            </a:pPr>
            <a:r>
              <a:rPr lang="en-US" sz="900" i="1" dirty="0">
                <a:solidFill>
                  <a:srgbClr val="FFFFFF"/>
                </a:solidFill>
                <a:latin typeface="Calibri" pitchFamily="34" charset="0"/>
                <a:ea typeface="Calibri" pitchFamily="34" charset="-122"/>
                <a:cs typeface="Calibri" pitchFamily="34" charset="-120"/>
              </a:rPr>
              <a:t>Tom</a:t>
            </a:r>
            <a:endParaRPr lang="en-US" sz="900" dirty="0"/>
          </a:p>
        </p:txBody>
      </p:sp>
      <p:sp>
        <p:nvSpPr>
          <p:cNvPr id="19" name="Text 17"/>
          <p:cNvSpPr/>
          <p:nvPr/>
        </p:nvSpPr>
        <p:spPr>
          <a:xfrm>
            <a:off x="594360" y="3383280"/>
            <a:ext cx="3703320" cy="6858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Static, rule-based transforms on EXISTING code. Variable renaming, comment removal, reordering. NOT AI — deterministic tools.</a:t>
            </a:r>
            <a:endParaRPr lang="en-US" sz="1050" dirty="0"/>
          </a:p>
        </p:txBody>
      </p:sp>
      <p:sp>
        <p:nvSpPr>
          <p:cNvPr id="20" name="Text 18"/>
          <p:cNvSpPr/>
          <p:nvPr/>
        </p:nvSpPr>
        <p:spPr>
          <a:xfrm>
            <a:off x="594360" y="4160520"/>
            <a:ext cx="3703320" cy="365760"/>
          </a:xfrm>
          <a:prstGeom prst="rect">
            <a:avLst/>
          </a:prstGeom>
          <a:noFill/>
          <a:ln/>
        </p:spPr>
        <p:txBody>
          <a:bodyPr wrap="square" lIns="0" tIns="0" rIns="0" bIns="0" rtlCol="0" anchor="ctr"/>
          <a:lstStyle/>
          <a:p>
            <a:pPr indent="0" marL="0">
              <a:buNone/>
            </a:pPr>
            <a:r>
              <a:rPr lang="en-US" sz="900" b="1" i="1" dirty="0">
                <a:solidFill>
                  <a:srgbClr val="8E44AD"/>
                </a:solidFill>
                <a:latin typeface="Calibri" pitchFamily="34" charset="0"/>
                <a:ea typeface="Calibri" pitchFamily="34" charset="-122"/>
                <a:cs typeface="Calibri" pitchFamily="34" charset="-120"/>
              </a:rPr>
              <a:t>Assigned to Tom — prototyping next</a:t>
            </a:r>
            <a:endParaRPr lang="en-US" sz="900" dirty="0"/>
          </a:p>
        </p:txBody>
      </p:sp>
      <p:sp>
        <p:nvSpPr>
          <p:cNvPr id="21" name="Shape 19"/>
          <p:cNvSpPr/>
          <p:nvPr/>
        </p:nvSpPr>
        <p:spPr>
          <a:xfrm>
            <a:off x="4754880" y="2880360"/>
            <a:ext cx="3977640" cy="17830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2" name="Shape 20"/>
          <p:cNvSpPr/>
          <p:nvPr/>
        </p:nvSpPr>
        <p:spPr>
          <a:xfrm>
            <a:off x="4754880" y="2880360"/>
            <a:ext cx="3977640" cy="411480"/>
          </a:xfrm>
          <a:prstGeom prst="rect">
            <a:avLst/>
          </a:prstGeom>
          <a:solidFill>
            <a:srgbClr val="27AE60"/>
          </a:solidFill>
          <a:ln/>
        </p:spPr>
      </p:sp>
      <p:sp>
        <p:nvSpPr>
          <p:cNvPr id="23" name="Text 21"/>
          <p:cNvSpPr/>
          <p:nvPr/>
        </p:nvSpPr>
        <p:spPr>
          <a:xfrm>
            <a:off x="4892040" y="2898648"/>
            <a:ext cx="2743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  VALIDATION</a:t>
            </a:r>
            <a:endParaRPr lang="en-US" sz="1500" dirty="0"/>
          </a:p>
        </p:txBody>
      </p:sp>
      <p:sp>
        <p:nvSpPr>
          <p:cNvPr id="24" name="Text 22"/>
          <p:cNvSpPr/>
          <p:nvPr/>
        </p:nvSpPr>
        <p:spPr>
          <a:xfrm>
            <a:off x="7680960" y="2953512"/>
            <a:ext cx="914400" cy="274320"/>
          </a:xfrm>
          <a:prstGeom prst="rect">
            <a:avLst/>
          </a:prstGeom>
          <a:noFill/>
          <a:ln/>
        </p:spPr>
        <p:txBody>
          <a:bodyPr wrap="square" lIns="0" tIns="0" rIns="0" bIns="0" rtlCol="0" anchor="ctr"/>
          <a:lstStyle/>
          <a:p>
            <a:pPr algn="r" indent="0" marL="0">
              <a:buNone/>
            </a:pPr>
            <a:r>
              <a:rPr lang="en-US" sz="900" i="1" dirty="0">
                <a:solidFill>
                  <a:srgbClr val="FFFFFF"/>
                </a:solidFill>
                <a:latin typeface="Calibri" pitchFamily="34" charset="0"/>
                <a:ea typeface="Calibri" pitchFamily="34" charset="-122"/>
                <a:cs typeface="Calibri" pitchFamily="34" charset="-120"/>
              </a:rPr>
              <a:t>Samyak + Erel</a:t>
            </a:r>
            <a:endParaRPr lang="en-US" sz="900" dirty="0"/>
          </a:p>
        </p:txBody>
      </p:sp>
      <p:sp>
        <p:nvSpPr>
          <p:cNvPr id="25" name="Text 23"/>
          <p:cNvSpPr/>
          <p:nvPr/>
        </p:nvSpPr>
        <p:spPr>
          <a:xfrm>
            <a:off x="4892040" y="3383280"/>
            <a:ext cx="3703320" cy="6858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Runtime correctness testing via the ParCodex harness. Build, run, verify pipeline. Leon adding variable comparison support.</a:t>
            </a:r>
            <a:endParaRPr lang="en-US" sz="1050" dirty="0"/>
          </a:p>
        </p:txBody>
      </p:sp>
      <p:sp>
        <p:nvSpPr>
          <p:cNvPr id="26" name="Text 24"/>
          <p:cNvSpPr/>
          <p:nvPr/>
        </p:nvSpPr>
        <p:spPr>
          <a:xfrm>
            <a:off x="4892040" y="4160520"/>
            <a:ext cx="3703320" cy="365760"/>
          </a:xfrm>
          <a:prstGeom prst="rect">
            <a:avLst/>
          </a:prstGeom>
          <a:noFill/>
          <a:ln/>
        </p:spPr>
        <p:txBody>
          <a:bodyPr wrap="square" lIns="0" tIns="0" rIns="0" bIns="0" rtlCol="0" anchor="ctr"/>
          <a:lstStyle/>
          <a:p>
            <a:pPr indent="0" marL="0">
              <a:buNone/>
            </a:pPr>
            <a:r>
              <a:rPr lang="en-US" sz="900" b="1" i="1" dirty="0">
                <a:solidFill>
                  <a:srgbClr val="27AE60"/>
                </a:solidFill>
                <a:latin typeface="Calibri" pitchFamily="34" charset="0"/>
                <a:ea typeface="Calibri" pitchFamily="34" charset="-122"/>
                <a:cs typeface="Calibri" pitchFamily="34" charset="-120"/>
              </a:rPr>
              <a:t>Harness proven — extending for Rodinia</a:t>
            </a:r>
            <a:endParaRPr lang="en-US" sz="900" dirty="0"/>
          </a:p>
        </p:txBody>
      </p:sp>
      <p:sp>
        <p:nvSpPr>
          <p:cNvPr id="27" name="Shape 25"/>
          <p:cNvSpPr/>
          <p:nvPr/>
        </p:nvSpPr>
        <p:spPr>
          <a:xfrm>
            <a:off x="457200" y="4754880"/>
            <a:ext cx="8229600" cy="320040"/>
          </a:xfrm>
          <a:prstGeom prst="rect">
            <a:avLst/>
          </a:prstGeom>
          <a:solidFill>
            <a:srgbClr val="E8F0FE"/>
          </a:solidFill>
          <a:ln/>
        </p:spPr>
      </p:sp>
      <p:sp>
        <p:nvSpPr>
          <p:cNvPr id="28" name="Text 26"/>
          <p:cNvSpPr/>
          <p:nvPr/>
        </p:nvSpPr>
        <p:spPr>
          <a:xfrm>
            <a:off x="640080" y="4754880"/>
            <a:ext cx="7863840" cy="320040"/>
          </a:xfrm>
          <a:prstGeom prst="rect">
            <a:avLst/>
          </a:prstGeom>
          <a:noFill/>
          <a:ln/>
        </p:spPr>
        <p:txBody>
          <a:bodyPr wrap="square" lIns="0" tIns="0" rIns="0" bIns="0" rtlCol="0" anchor="ctr"/>
          <a:lstStyle/>
          <a:p>
            <a:pPr indent="0" marL="0">
              <a:buNone/>
            </a:pPr>
            <a:r>
              <a:rPr lang="en-US" sz="950" b="1" dirty="0">
                <a:solidFill>
                  <a:srgbClr val="1E2761"/>
                </a:solidFill>
                <a:latin typeface="Calibri" pitchFamily="34" charset="0"/>
                <a:ea typeface="Calibri" pitchFamily="34" charset="-122"/>
                <a:cs typeface="Calibri" pitchFamily="34" charset="-120"/>
              </a:rPr>
              <a:t>KEY DISTINCTION:  CREATION = AI generates NEW code (missing variants)  |  AUGMENTATION = static tools transform EXISTING code (NOT AI)</a:t>
            </a:r>
            <a:endParaRPr lang="en-US" sz="950" dirty="0"/>
          </a:p>
        </p:txBody>
      </p:sp>
      <p:sp>
        <p:nvSpPr>
          <p:cNvPr id="29" name="Text 27"/>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15 / 18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Rodinia Testing Pipeline (Phase 2b)</a:t>
            </a:r>
            <a:endParaRPr lang="en-US" sz="2800" dirty="0"/>
          </a:p>
        </p:txBody>
      </p:sp>
      <p:sp>
        <p:nvSpPr>
          <p:cNvPr id="3" name="Text 1"/>
          <p:cNvSpPr/>
          <p:nvPr/>
        </p:nvSpPr>
        <p:spPr>
          <a:xfrm>
            <a:off x="457200" y="777240"/>
            <a:ext cx="8229600" cy="365760"/>
          </a:xfrm>
          <a:prstGeom prst="rect">
            <a:avLst/>
          </a:prstGeom>
          <a:noFill/>
          <a:ln/>
        </p:spPr>
        <p:txBody>
          <a:bodyPr wrap="square" lIns="0" tIns="0" rIns="0" bIns="0" rtlCol="0" anchor="ctr"/>
          <a:lstStyle/>
          <a:p>
            <a:pPr indent="0" marL="0">
              <a:buNone/>
            </a:pPr>
            <a:r>
              <a:rPr lang="en-US" sz="1200" dirty="0">
                <a:solidFill>
                  <a:srgbClr val="5D6D7E"/>
                </a:solidFill>
                <a:latin typeface="Calibri" pitchFamily="34" charset="0"/>
                <a:ea typeface="Calibri" pitchFamily="34" charset="-122"/>
                <a:cs typeface="Calibri" pitchFamily="34" charset="-120"/>
              </a:rPr>
              <a:t>Ready to execute — prompts designed, specs generated, pipeline proven on HeCBench</a:t>
            </a:r>
            <a:endParaRPr lang="en-US" sz="1200" dirty="0"/>
          </a:p>
        </p:txBody>
      </p:sp>
      <p:sp>
        <p:nvSpPr>
          <p:cNvPr id="4" name="Shape 2"/>
          <p:cNvSpPr/>
          <p:nvPr/>
        </p:nvSpPr>
        <p:spPr>
          <a:xfrm>
            <a:off x="548640" y="1389888"/>
            <a:ext cx="411480" cy="411480"/>
          </a:xfrm>
          <a:prstGeom prst="ellipse">
            <a:avLst/>
          </a:prstGeom>
          <a:solidFill>
            <a:srgbClr val="1E2761"/>
          </a:solidFill>
          <a:ln/>
        </p:spPr>
      </p:sp>
      <p:sp>
        <p:nvSpPr>
          <p:cNvPr id="5" name="Text 3"/>
          <p:cNvSpPr/>
          <p:nvPr/>
        </p:nvSpPr>
        <p:spPr>
          <a:xfrm>
            <a:off x="548640" y="138988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6" name="Text 4"/>
          <p:cNvSpPr/>
          <p:nvPr/>
        </p:nvSpPr>
        <p:spPr>
          <a:xfrm>
            <a:off x="1143000" y="1325880"/>
            <a:ext cx="4572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Download Rodinia data</a:t>
            </a:r>
            <a:endParaRPr lang="en-US" sz="1300" dirty="0"/>
          </a:p>
        </p:txBody>
      </p:sp>
      <p:sp>
        <p:nvSpPr>
          <p:cNvPr id="7" name="Text 5"/>
          <p:cNvSpPr/>
          <p:nvPr/>
        </p:nvSpPr>
        <p:spPr>
          <a:xfrm>
            <a:off x="1143000" y="1600200"/>
            <a:ext cx="4572000" cy="2743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Get shared data directory (~500MB) for kernels that need input files</a:t>
            </a:r>
            <a:endParaRPr lang="en-US" sz="1000" dirty="0"/>
          </a:p>
        </p:txBody>
      </p:sp>
      <p:sp>
        <p:nvSpPr>
          <p:cNvPr id="8" name="Shape 6"/>
          <p:cNvSpPr/>
          <p:nvPr/>
        </p:nvSpPr>
        <p:spPr>
          <a:xfrm>
            <a:off x="7498080" y="1417320"/>
            <a:ext cx="914400" cy="320040"/>
          </a:xfrm>
          <a:prstGeom prst="rect">
            <a:avLst/>
          </a:prstGeom>
          <a:solidFill>
            <a:srgbClr val="FEF5E7"/>
          </a:solidFill>
          <a:ln/>
        </p:spPr>
      </p:sp>
      <p:sp>
        <p:nvSpPr>
          <p:cNvPr id="9" name="Text 7"/>
          <p:cNvSpPr/>
          <p:nvPr/>
        </p:nvSpPr>
        <p:spPr>
          <a:xfrm>
            <a:off x="7498080" y="1417320"/>
            <a:ext cx="914400" cy="320040"/>
          </a:xfrm>
          <a:prstGeom prst="rect">
            <a:avLst/>
          </a:prstGeom>
          <a:noFill/>
          <a:ln/>
        </p:spPr>
        <p:txBody>
          <a:bodyPr wrap="square" lIns="0" tIns="0" rIns="0" bIns="0"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Pending</a:t>
            </a:r>
            <a:endParaRPr lang="en-US" sz="900" dirty="0"/>
          </a:p>
        </p:txBody>
      </p:sp>
      <p:sp>
        <p:nvSpPr>
          <p:cNvPr id="10" name="Shape 8"/>
          <p:cNvSpPr/>
          <p:nvPr/>
        </p:nvSpPr>
        <p:spPr>
          <a:xfrm>
            <a:off x="548640" y="2029968"/>
            <a:ext cx="411480" cy="411480"/>
          </a:xfrm>
          <a:prstGeom prst="ellipse">
            <a:avLst/>
          </a:prstGeom>
          <a:solidFill>
            <a:srgbClr val="1E2761"/>
          </a:solidFill>
          <a:ln/>
        </p:spPr>
      </p:sp>
      <p:sp>
        <p:nvSpPr>
          <p:cNvPr id="11" name="Text 9"/>
          <p:cNvSpPr/>
          <p:nvPr/>
        </p:nvSpPr>
        <p:spPr>
          <a:xfrm>
            <a:off x="548640" y="202996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1143000" y="1965960"/>
            <a:ext cx="4572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Configure build environment</a:t>
            </a:r>
            <a:endParaRPr lang="en-US" sz="1300" dirty="0"/>
          </a:p>
        </p:txBody>
      </p:sp>
      <p:sp>
        <p:nvSpPr>
          <p:cNvPr id="13" name="Text 11"/>
          <p:cNvSpPr/>
          <p:nvPr/>
        </p:nvSpPr>
        <p:spPr>
          <a:xfrm>
            <a:off x="1143000" y="2240280"/>
            <a:ext cx="4572000" cy="2743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Set up common/make.config with CUDA_DIR, OPENCL_DIR paths</a:t>
            </a:r>
            <a:endParaRPr lang="en-US" sz="1000" dirty="0"/>
          </a:p>
        </p:txBody>
      </p:sp>
      <p:sp>
        <p:nvSpPr>
          <p:cNvPr id="14" name="Shape 12"/>
          <p:cNvSpPr/>
          <p:nvPr/>
        </p:nvSpPr>
        <p:spPr>
          <a:xfrm>
            <a:off x="7498080" y="2057400"/>
            <a:ext cx="914400" cy="320040"/>
          </a:xfrm>
          <a:prstGeom prst="rect">
            <a:avLst/>
          </a:prstGeom>
          <a:solidFill>
            <a:srgbClr val="FEF5E7"/>
          </a:solidFill>
          <a:ln/>
        </p:spPr>
      </p:sp>
      <p:sp>
        <p:nvSpPr>
          <p:cNvPr id="15" name="Text 13"/>
          <p:cNvSpPr/>
          <p:nvPr/>
        </p:nvSpPr>
        <p:spPr>
          <a:xfrm>
            <a:off x="7498080" y="2057400"/>
            <a:ext cx="914400" cy="320040"/>
          </a:xfrm>
          <a:prstGeom prst="rect">
            <a:avLst/>
          </a:prstGeom>
          <a:noFill/>
          <a:ln/>
        </p:spPr>
        <p:txBody>
          <a:bodyPr wrap="square" lIns="0" tIns="0" rIns="0" bIns="0"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Pending</a:t>
            </a:r>
            <a:endParaRPr lang="en-US" sz="900" dirty="0"/>
          </a:p>
        </p:txBody>
      </p:sp>
      <p:sp>
        <p:nvSpPr>
          <p:cNvPr id="16" name="Shape 14"/>
          <p:cNvSpPr/>
          <p:nvPr/>
        </p:nvSpPr>
        <p:spPr>
          <a:xfrm>
            <a:off x="548640" y="2670048"/>
            <a:ext cx="411480" cy="411480"/>
          </a:xfrm>
          <a:prstGeom prst="ellipse">
            <a:avLst/>
          </a:prstGeom>
          <a:solidFill>
            <a:srgbClr val="1E2761"/>
          </a:solidFill>
          <a:ln/>
        </p:spPr>
      </p:sp>
      <p:sp>
        <p:nvSpPr>
          <p:cNvPr id="17" name="Text 15"/>
          <p:cNvSpPr/>
          <p:nvPr/>
        </p:nvSpPr>
        <p:spPr>
          <a:xfrm>
            <a:off x="548640" y="267004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1143000" y="2606040"/>
            <a:ext cx="4572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Build all 63 specs</a:t>
            </a:r>
            <a:endParaRPr lang="en-US" sz="1300" dirty="0"/>
          </a:p>
        </p:txBody>
      </p:sp>
      <p:sp>
        <p:nvSpPr>
          <p:cNvPr id="19" name="Text 17"/>
          <p:cNvSpPr/>
          <p:nvPr/>
        </p:nvSpPr>
        <p:spPr>
          <a:xfrm>
            <a:off x="1143000" y="2880360"/>
            <a:ext cx="4572000" cy="2743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Run harness build on each spec (CUDA, OpenCL, OpenMP)</a:t>
            </a:r>
            <a:endParaRPr lang="en-US" sz="1000" dirty="0"/>
          </a:p>
        </p:txBody>
      </p:sp>
      <p:sp>
        <p:nvSpPr>
          <p:cNvPr id="20" name="Shape 18"/>
          <p:cNvSpPr/>
          <p:nvPr/>
        </p:nvSpPr>
        <p:spPr>
          <a:xfrm>
            <a:off x="7498080" y="2697480"/>
            <a:ext cx="914400" cy="320040"/>
          </a:xfrm>
          <a:prstGeom prst="rect">
            <a:avLst/>
          </a:prstGeom>
          <a:solidFill>
            <a:srgbClr val="FEF5E7"/>
          </a:solidFill>
          <a:ln/>
        </p:spPr>
      </p:sp>
      <p:sp>
        <p:nvSpPr>
          <p:cNvPr id="21" name="Text 19"/>
          <p:cNvSpPr/>
          <p:nvPr/>
        </p:nvSpPr>
        <p:spPr>
          <a:xfrm>
            <a:off x="7498080" y="2697480"/>
            <a:ext cx="914400" cy="320040"/>
          </a:xfrm>
          <a:prstGeom prst="rect">
            <a:avLst/>
          </a:prstGeom>
          <a:noFill/>
          <a:ln/>
        </p:spPr>
        <p:txBody>
          <a:bodyPr wrap="square" lIns="0" tIns="0" rIns="0" bIns="0"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Pending</a:t>
            </a:r>
            <a:endParaRPr lang="en-US" sz="900" dirty="0"/>
          </a:p>
        </p:txBody>
      </p:sp>
      <p:sp>
        <p:nvSpPr>
          <p:cNvPr id="22" name="Shape 20"/>
          <p:cNvSpPr/>
          <p:nvPr/>
        </p:nvSpPr>
        <p:spPr>
          <a:xfrm>
            <a:off x="548640" y="3310128"/>
            <a:ext cx="411480" cy="411480"/>
          </a:xfrm>
          <a:prstGeom prst="ellipse">
            <a:avLst/>
          </a:prstGeom>
          <a:solidFill>
            <a:srgbClr val="1E2761"/>
          </a:solidFill>
          <a:ln/>
        </p:spPr>
      </p:sp>
      <p:sp>
        <p:nvSpPr>
          <p:cNvPr id="23" name="Text 21"/>
          <p:cNvSpPr/>
          <p:nvPr/>
        </p:nvSpPr>
        <p:spPr>
          <a:xfrm>
            <a:off x="548640" y="331012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4" name="Text 22"/>
          <p:cNvSpPr/>
          <p:nvPr/>
        </p:nvSpPr>
        <p:spPr>
          <a:xfrm>
            <a:off x="1143000" y="3246120"/>
            <a:ext cx="4572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Run + Verify</a:t>
            </a:r>
            <a:endParaRPr lang="en-US" sz="1300" dirty="0"/>
          </a:p>
        </p:txBody>
      </p:sp>
      <p:sp>
        <p:nvSpPr>
          <p:cNvPr id="25" name="Text 23"/>
          <p:cNvSpPr/>
          <p:nvPr/>
        </p:nvSpPr>
        <p:spPr>
          <a:xfrm>
            <a:off x="1143000" y="3520440"/>
            <a:ext cx="4572000" cy="2743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Execute and verify all built specs; collect baselines</a:t>
            </a:r>
            <a:endParaRPr lang="en-US" sz="1000" dirty="0"/>
          </a:p>
        </p:txBody>
      </p:sp>
      <p:sp>
        <p:nvSpPr>
          <p:cNvPr id="26" name="Shape 24"/>
          <p:cNvSpPr/>
          <p:nvPr/>
        </p:nvSpPr>
        <p:spPr>
          <a:xfrm>
            <a:off x="7498080" y="3337560"/>
            <a:ext cx="914400" cy="320040"/>
          </a:xfrm>
          <a:prstGeom prst="rect">
            <a:avLst/>
          </a:prstGeom>
          <a:solidFill>
            <a:srgbClr val="FEF5E7"/>
          </a:solidFill>
          <a:ln/>
        </p:spPr>
      </p:sp>
      <p:sp>
        <p:nvSpPr>
          <p:cNvPr id="27" name="Text 25"/>
          <p:cNvSpPr/>
          <p:nvPr/>
        </p:nvSpPr>
        <p:spPr>
          <a:xfrm>
            <a:off x="7498080" y="3337560"/>
            <a:ext cx="914400" cy="320040"/>
          </a:xfrm>
          <a:prstGeom prst="rect">
            <a:avLst/>
          </a:prstGeom>
          <a:noFill/>
          <a:ln/>
        </p:spPr>
        <p:txBody>
          <a:bodyPr wrap="square" lIns="0" tIns="0" rIns="0" bIns="0"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Pending</a:t>
            </a:r>
            <a:endParaRPr lang="en-US" sz="900" dirty="0"/>
          </a:p>
        </p:txBody>
      </p:sp>
      <p:sp>
        <p:nvSpPr>
          <p:cNvPr id="28" name="Shape 26"/>
          <p:cNvSpPr/>
          <p:nvPr/>
        </p:nvSpPr>
        <p:spPr>
          <a:xfrm>
            <a:off x="548640" y="3950208"/>
            <a:ext cx="411480" cy="411480"/>
          </a:xfrm>
          <a:prstGeom prst="ellipse">
            <a:avLst/>
          </a:prstGeom>
          <a:solidFill>
            <a:srgbClr val="1E2761"/>
          </a:solidFill>
          <a:ln/>
        </p:spPr>
      </p:sp>
      <p:sp>
        <p:nvSpPr>
          <p:cNvPr id="29" name="Text 27"/>
          <p:cNvSpPr/>
          <p:nvPr/>
        </p:nvSpPr>
        <p:spPr>
          <a:xfrm>
            <a:off x="548640" y="39502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0" name="Text 28"/>
          <p:cNvSpPr/>
          <p:nvPr/>
        </p:nvSpPr>
        <p:spPr>
          <a:xfrm>
            <a:off x="1143000" y="3886200"/>
            <a:ext cx="457200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Failure analysis</a:t>
            </a:r>
            <a:endParaRPr lang="en-US" sz="1300" dirty="0"/>
          </a:p>
        </p:txBody>
      </p:sp>
      <p:sp>
        <p:nvSpPr>
          <p:cNvPr id="31" name="Text 29"/>
          <p:cNvSpPr/>
          <p:nvPr/>
        </p:nvSpPr>
        <p:spPr>
          <a:xfrm>
            <a:off x="1143000" y="4160520"/>
            <a:ext cx="4572000" cy="27432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Categorize failures using same taxonomy as HeCBench Phase 3</a:t>
            </a:r>
            <a:endParaRPr lang="en-US" sz="1000" dirty="0"/>
          </a:p>
        </p:txBody>
      </p:sp>
      <p:sp>
        <p:nvSpPr>
          <p:cNvPr id="32" name="Shape 30"/>
          <p:cNvSpPr/>
          <p:nvPr/>
        </p:nvSpPr>
        <p:spPr>
          <a:xfrm>
            <a:off x="7498080" y="3977640"/>
            <a:ext cx="914400" cy="320040"/>
          </a:xfrm>
          <a:prstGeom prst="rect">
            <a:avLst/>
          </a:prstGeom>
          <a:solidFill>
            <a:srgbClr val="FEF5E7"/>
          </a:solidFill>
          <a:ln/>
        </p:spPr>
      </p:sp>
      <p:sp>
        <p:nvSpPr>
          <p:cNvPr id="33" name="Text 31"/>
          <p:cNvSpPr/>
          <p:nvPr/>
        </p:nvSpPr>
        <p:spPr>
          <a:xfrm>
            <a:off x="7498080" y="3977640"/>
            <a:ext cx="914400" cy="320040"/>
          </a:xfrm>
          <a:prstGeom prst="rect">
            <a:avLst/>
          </a:prstGeom>
          <a:noFill/>
          <a:ln/>
        </p:spPr>
        <p:txBody>
          <a:bodyPr wrap="square" lIns="0" tIns="0" rIns="0" bIns="0" rtlCol="0" anchor="ctr"/>
          <a:lstStyle/>
          <a:p>
            <a:pPr algn="ctr" indent="0" marL="0">
              <a:buNone/>
            </a:pPr>
            <a:r>
              <a:rPr lang="en-US" sz="900" b="1" dirty="0">
                <a:solidFill>
                  <a:srgbClr val="F39C12"/>
                </a:solidFill>
                <a:latin typeface="Calibri" pitchFamily="34" charset="0"/>
                <a:ea typeface="Calibri" pitchFamily="34" charset="-122"/>
                <a:cs typeface="Calibri" pitchFamily="34" charset="-120"/>
              </a:rPr>
              <a:t>Pending</a:t>
            </a:r>
            <a:endParaRPr lang="en-US" sz="900" dirty="0"/>
          </a:p>
        </p:txBody>
      </p:sp>
      <p:sp>
        <p:nvSpPr>
          <p:cNvPr id="34" name="Shape 32"/>
          <p:cNvSpPr/>
          <p:nvPr/>
        </p:nvSpPr>
        <p:spPr>
          <a:xfrm>
            <a:off x="457200" y="4526280"/>
            <a:ext cx="8229600" cy="365760"/>
          </a:xfrm>
          <a:prstGeom prst="rect">
            <a:avLst/>
          </a:prstGeom>
          <a:solidFill>
            <a:srgbClr val="EBF5FB"/>
          </a:solidFill>
          <a:ln/>
        </p:spPr>
      </p:sp>
      <p:sp>
        <p:nvSpPr>
          <p:cNvPr id="35" name="Text 33"/>
          <p:cNvSpPr/>
          <p:nvPr/>
        </p:nvSpPr>
        <p:spPr>
          <a:xfrm>
            <a:off x="640080" y="4553712"/>
            <a:ext cx="7772400" cy="320040"/>
          </a:xfrm>
          <a:prstGeom prst="rect">
            <a:avLst/>
          </a:prstGeom>
          <a:noFill/>
          <a:ln/>
        </p:spPr>
        <p:txBody>
          <a:bodyPr wrap="square" lIns="0" tIns="0" rIns="0" bIns="0" rtlCol="0" anchor="ctr"/>
          <a:lstStyle/>
          <a:p>
            <a:pPr indent="0" marL="0">
              <a:buNone/>
            </a:pPr>
            <a:r>
              <a:rPr lang="en-US" sz="1100" b="1" dirty="0">
                <a:solidFill>
                  <a:srgbClr val="3498DB"/>
                </a:solidFill>
                <a:latin typeface="Calibri" pitchFamily="34" charset="0"/>
                <a:ea typeface="Calibri" pitchFamily="34" charset="-122"/>
                <a:cs typeface="Calibri" pitchFamily="34" charset="-120"/>
              </a:rPr>
              <a:t>Team Access: Erel, Gal, Tom, Le, and Leon have collaborator access to the ParBench GitHub repo</a:t>
            </a:r>
            <a:endParaRPr lang="en-US" sz="1100" dirty="0"/>
          </a:p>
        </p:txBody>
      </p:sp>
      <p:sp>
        <p:nvSpPr>
          <p:cNvPr id="36" name="Text 34"/>
          <p:cNvSpPr/>
          <p:nvPr/>
        </p:nvSpPr>
        <p:spPr>
          <a:xfrm>
            <a:off x="457200" y="4709160"/>
            <a:ext cx="8229600" cy="320040"/>
          </a:xfrm>
          <a:prstGeom prst="rect">
            <a:avLst/>
          </a:prstGeom>
          <a:noFill/>
          <a:ln/>
        </p:spPr>
        <p:txBody>
          <a:bodyPr wrap="square" rtlCol="0" anchor="ctr"/>
          <a:lstStyle/>
          <a:p>
            <a:pPr indent="0" marL="0">
              <a:buNone/>
            </a:pPr>
            <a:r>
              <a:rPr lang="en-US" sz="800" i="1" dirty="0">
                <a:solidFill>
                  <a:srgbClr val="7F8C8D"/>
                </a:solidFill>
                <a:latin typeface="Calibri" pitchFamily="34" charset="0"/>
                <a:ea typeface="Calibri" pitchFamily="34" charset="-122"/>
                <a:cs typeface="Calibri" pitchFamily="34" charset="-120"/>
              </a:rPr>
              <a:t>Source: scripts/generate_rodinia_specs.py, prompts/ directory</a:t>
            </a:r>
            <a:endParaRPr lang="en-US" sz="800" dirty="0"/>
          </a:p>
        </p:txBody>
      </p:sp>
      <p:sp>
        <p:nvSpPr>
          <p:cNvPr id="37" name="Text 35"/>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16 / 18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Open Questions for Discussion</a:t>
            </a:r>
            <a:endParaRPr lang="en-US" sz="2800" dirty="0"/>
          </a:p>
        </p:txBody>
      </p:sp>
      <p:sp>
        <p:nvSpPr>
          <p:cNvPr id="3" name="Shape 1"/>
          <p:cNvSpPr/>
          <p:nvPr/>
        </p:nvSpPr>
        <p:spPr>
          <a:xfrm>
            <a:off x="457200" y="960120"/>
            <a:ext cx="82296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457200" y="960120"/>
            <a:ext cx="54864" cy="868680"/>
          </a:xfrm>
          <a:prstGeom prst="rect">
            <a:avLst/>
          </a:prstGeom>
          <a:solidFill>
            <a:srgbClr val="E74C3C"/>
          </a:solidFill>
          <a:ln/>
        </p:spPr>
      </p:sp>
      <p:pic>
        <p:nvPicPr>
          <p:cNvPr id="5" name="Image 0" descr="preencoded.png">    </p:cNvPr>
          <p:cNvPicPr>
            <a:picLocks noChangeAspect="1"/>
          </p:cNvPicPr>
          <p:nvPr/>
        </p:nvPicPr>
        <p:blipFill>
          <a:blip r:embed="rId1"/>
          <a:stretch>
            <a:fillRect/>
          </a:stretch>
        </p:blipFill>
        <p:spPr>
          <a:xfrm>
            <a:off x="640080" y="1188720"/>
            <a:ext cx="320040" cy="320040"/>
          </a:xfrm>
          <a:prstGeom prst="rect">
            <a:avLst/>
          </a:prstGeom>
        </p:spPr>
      </p:pic>
      <p:sp>
        <p:nvSpPr>
          <p:cNvPr id="6" name="Text 3"/>
          <p:cNvSpPr/>
          <p:nvPr/>
        </p:nvSpPr>
        <p:spPr>
          <a:xfrm>
            <a:off x="1097280" y="1005840"/>
            <a:ext cx="7406640" cy="365760"/>
          </a:xfrm>
          <a:prstGeom prst="rect">
            <a:avLst/>
          </a:prstGeom>
          <a:noFill/>
          <a:ln/>
        </p:spPr>
        <p:txBody>
          <a:bodyPr wrap="square" lIns="0" tIns="0" rIns="0" bIns="0" rtlCol="0" anchor="ctr"/>
          <a:lstStyle/>
          <a:p>
            <a:pPr indent="0" marL="0">
              <a:buNone/>
            </a:pPr>
            <a:r>
              <a:rPr lang="en-US" sz="1300" b="1" dirty="0">
                <a:solidFill>
                  <a:srgbClr val="2C3E50"/>
                </a:solidFill>
                <a:latin typeface="Calibri" pitchFamily="34" charset="0"/>
                <a:ea typeface="Calibri" pitchFamily="34" charset="-122"/>
                <a:cs typeface="Calibri" pitchFamily="34" charset="-120"/>
              </a:rPr>
              <a:t>Paper venue &amp; timeline?</a:t>
            </a:r>
            <a:endParaRPr lang="en-US" sz="1300" dirty="0"/>
          </a:p>
        </p:txBody>
      </p:sp>
      <p:sp>
        <p:nvSpPr>
          <p:cNvPr id="7" name="Text 4"/>
          <p:cNvSpPr/>
          <p:nvPr/>
        </p:nvSpPr>
        <p:spPr>
          <a:xfrm>
            <a:off x="1097280" y="1371600"/>
            <a:ext cx="7406640" cy="41148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Benchmark paper covering all four pillars plus coding agent comparisons. Gal outlined this scope. Venue choice (SC/PPoPP vs ICSE/ASE) affects framing.</a:t>
            </a:r>
            <a:endParaRPr lang="en-US" sz="1000" dirty="0"/>
          </a:p>
        </p:txBody>
      </p:sp>
      <p:sp>
        <p:nvSpPr>
          <p:cNvPr id="8" name="Shape 5"/>
          <p:cNvSpPr/>
          <p:nvPr/>
        </p:nvSpPr>
        <p:spPr>
          <a:xfrm>
            <a:off x="457200" y="1965960"/>
            <a:ext cx="82296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6"/>
          <p:cNvSpPr/>
          <p:nvPr/>
        </p:nvSpPr>
        <p:spPr>
          <a:xfrm>
            <a:off x="457200" y="1965960"/>
            <a:ext cx="54864" cy="868680"/>
          </a:xfrm>
          <a:prstGeom prst="rect">
            <a:avLst/>
          </a:prstGeom>
          <a:solidFill>
            <a:srgbClr val="F39C12"/>
          </a:solidFill>
          <a:ln/>
        </p:spPr>
      </p:sp>
      <p:pic>
        <p:nvPicPr>
          <p:cNvPr id="10" name="Image 1" descr="preencoded.png">    </p:cNvPr>
          <p:cNvPicPr>
            <a:picLocks noChangeAspect="1"/>
          </p:cNvPicPr>
          <p:nvPr/>
        </p:nvPicPr>
        <p:blipFill>
          <a:blip r:embed="rId2"/>
          <a:stretch>
            <a:fillRect/>
          </a:stretch>
        </p:blipFill>
        <p:spPr>
          <a:xfrm>
            <a:off x="640080" y="2194560"/>
            <a:ext cx="320040" cy="320040"/>
          </a:xfrm>
          <a:prstGeom prst="rect">
            <a:avLst/>
          </a:prstGeom>
        </p:spPr>
      </p:pic>
      <p:sp>
        <p:nvSpPr>
          <p:cNvPr id="11" name="Text 7"/>
          <p:cNvSpPr/>
          <p:nvPr/>
        </p:nvSpPr>
        <p:spPr>
          <a:xfrm>
            <a:off x="1097280" y="2011680"/>
            <a:ext cx="7406640" cy="365760"/>
          </a:xfrm>
          <a:prstGeom prst="rect">
            <a:avLst/>
          </a:prstGeom>
          <a:noFill/>
          <a:ln/>
        </p:spPr>
        <p:txBody>
          <a:bodyPr wrap="square" lIns="0" tIns="0" rIns="0" bIns="0" rtlCol="0" anchor="ctr"/>
          <a:lstStyle/>
          <a:p>
            <a:pPr indent="0" marL="0">
              <a:buNone/>
            </a:pPr>
            <a:r>
              <a:rPr lang="en-US" sz="1300" b="1" dirty="0">
                <a:solidFill>
                  <a:srgbClr val="2C3E50"/>
                </a:solidFill>
                <a:latin typeface="Calibri" pitchFamily="34" charset="0"/>
                <a:ea typeface="Calibri" pitchFamily="34" charset="-122"/>
                <a:cs typeface="Calibri" pitchFamily="34" charset="-120"/>
              </a:rPr>
              <a:t>Which coding agents / LLMs to compare?</a:t>
            </a:r>
            <a:endParaRPr lang="en-US" sz="1300" dirty="0"/>
          </a:p>
        </p:txBody>
      </p:sp>
      <p:sp>
        <p:nvSpPr>
          <p:cNvPr id="12" name="Text 8"/>
          <p:cNvSpPr/>
          <p:nvPr/>
        </p:nvSpPr>
        <p:spPr>
          <a:xfrm>
            <a:off x="1097280" y="2377440"/>
            <a:ext cx="7406640" cy="41148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Need to select models for evaluation experiments. Candidates: GPT-4o, Claude, DeepSeek Coder, Codex, open-source alternatives. Le will send evaluation metrics.</a:t>
            </a:r>
            <a:endParaRPr lang="en-US" sz="1000" dirty="0"/>
          </a:p>
        </p:txBody>
      </p:sp>
      <p:sp>
        <p:nvSpPr>
          <p:cNvPr id="13" name="Shape 9"/>
          <p:cNvSpPr/>
          <p:nvPr/>
        </p:nvSpPr>
        <p:spPr>
          <a:xfrm>
            <a:off x="457200" y="2971800"/>
            <a:ext cx="82296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0"/>
          <p:cNvSpPr/>
          <p:nvPr/>
        </p:nvSpPr>
        <p:spPr>
          <a:xfrm>
            <a:off x="457200" y="2971800"/>
            <a:ext cx="54864" cy="868680"/>
          </a:xfrm>
          <a:prstGeom prst="rect">
            <a:avLst/>
          </a:prstGeom>
          <a:solidFill>
            <a:srgbClr val="3498DB"/>
          </a:solidFill>
          <a:ln/>
        </p:spPr>
      </p:sp>
      <p:pic>
        <p:nvPicPr>
          <p:cNvPr id="15" name="Image 2" descr="preencoded.png">    </p:cNvPr>
          <p:cNvPicPr>
            <a:picLocks noChangeAspect="1"/>
          </p:cNvPicPr>
          <p:nvPr/>
        </p:nvPicPr>
        <p:blipFill>
          <a:blip r:embed="rId3"/>
          <a:stretch>
            <a:fillRect/>
          </a:stretch>
        </p:blipFill>
        <p:spPr>
          <a:xfrm>
            <a:off x="640080" y="3200400"/>
            <a:ext cx="320040" cy="320040"/>
          </a:xfrm>
          <a:prstGeom prst="rect">
            <a:avLst/>
          </a:prstGeom>
        </p:spPr>
      </p:pic>
      <p:sp>
        <p:nvSpPr>
          <p:cNvPr id="16" name="Text 11"/>
          <p:cNvSpPr/>
          <p:nvPr/>
        </p:nvSpPr>
        <p:spPr>
          <a:xfrm>
            <a:off x="1097280" y="3017520"/>
            <a:ext cx="7406640" cy="365760"/>
          </a:xfrm>
          <a:prstGeom prst="rect">
            <a:avLst/>
          </a:prstGeom>
          <a:noFill/>
          <a:ln/>
        </p:spPr>
        <p:txBody>
          <a:bodyPr wrap="square" lIns="0" tIns="0" rIns="0" bIns="0" rtlCol="0" anchor="ctr"/>
          <a:lstStyle/>
          <a:p>
            <a:pPr indent="0" marL="0">
              <a:buNone/>
            </a:pPr>
            <a:r>
              <a:rPr lang="en-US" sz="1300" b="1" dirty="0">
                <a:solidFill>
                  <a:srgbClr val="2C3E50"/>
                </a:solidFill>
                <a:latin typeface="Calibri" pitchFamily="34" charset="0"/>
                <a:ea typeface="Calibri" pitchFamily="34" charset="-122"/>
                <a:cs typeface="Calibri" pitchFamily="34" charset="-120"/>
              </a:rPr>
              <a:t>How many benchmark suites should we include?</a:t>
            </a:r>
            <a:endParaRPr lang="en-US" sz="1300" dirty="0"/>
          </a:p>
        </p:txBody>
      </p:sp>
      <p:sp>
        <p:nvSpPr>
          <p:cNvPr id="17" name="Text 12"/>
          <p:cNvSpPr/>
          <p:nvPr/>
        </p:nvSpPr>
        <p:spPr>
          <a:xfrm>
            <a:off x="1097280" y="3383280"/>
            <a:ext cx="7406640" cy="41148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Currently have HeCBench + Rodinia. Should we add more suites (PolyBench, SHOC, etc.) before the paper, or focus on depth over breadth?</a:t>
            </a:r>
            <a:endParaRPr lang="en-US" sz="1000" dirty="0"/>
          </a:p>
        </p:txBody>
      </p:sp>
      <p:sp>
        <p:nvSpPr>
          <p:cNvPr id="18" name="Shape 13"/>
          <p:cNvSpPr/>
          <p:nvPr/>
        </p:nvSpPr>
        <p:spPr>
          <a:xfrm>
            <a:off x="457200" y="3977640"/>
            <a:ext cx="8229600" cy="868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4"/>
          <p:cNvSpPr/>
          <p:nvPr/>
        </p:nvSpPr>
        <p:spPr>
          <a:xfrm>
            <a:off x="457200" y="3977640"/>
            <a:ext cx="54864" cy="868680"/>
          </a:xfrm>
          <a:prstGeom prst="rect">
            <a:avLst/>
          </a:prstGeom>
          <a:solidFill>
            <a:srgbClr val="8E44AD"/>
          </a:solidFill>
          <a:ln/>
        </p:spPr>
      </p:sp>
      <p:pic>
        <p:nvPicPr>
          <p:cNvPr id="20" name="Image 3" descr="preencoded.png">    </p:cNvPr>
          <p:cNvPicPr>
            <a:picLocks noChangeAspect="1"/>
          </p:cNvPicPr>
          <p:nvPr/>
        </p:nvPicPr>
        <p:blipFill>
          <a:blip r:embed="rId4"/>
          <a:stretch>
            <a:fillRect/>
          </a:stretch>
        </p:blipFill>
        <p:spPr>
          <a:xfrm>
            <a:off x="640080" y="4206240"/>
            <a:ext cx="320040" cy="320040"/>
          </a:xfrm>
          <a:prstGeom prst="rect">
            <a:avLst/>
          </a:prstGeom>
        </p:spPr>
      </p:pic>
      <p:sp>
        <p:nvSpPr>
          <p:cNvPr id="21" name="Text 15"/>
          <p:cNvSpPr/>
          <p:nvPr/>
        </p:nvSpPr>
        <p:spPr>
          <a:xfrm>
            <a:off x="1097280" y="4023360"/>
            <a:ext cx="7406640" cy="365760"/>
          </a:xfrm>
          <a:prstGeom prst="rect">
            <a:avLst/>
          </a:prstGeom>
          <a:noFill/>
          <a:ln/>
        </p:spPr>
        <p:txBody>
          <a:bodyPr wrap="square" lIns="0" tIns="0" rIns="0" bIns="0" rtlCol="0" anchor="ctr"/>
          <a:lstStyle/>
          <a:p>
            <a:pPr indent="0" marL="0">
              <a:buNone/>
            </a:pPr>
            <a:r>
              <a:rPr lang="en-US" sz="1300" b="1" dirty="0">
                <a:solidFill>
                  <a:srgbClr val="2C3E50"/>
                </a:solidFill>
                <a:latin typeface="Calibri" pitchFamily="34" charset="0"/>
                <a:ea typeface="Calibri" pitchFamily="34" charset="-122"/>
                <a:cs typeface="Calibri" pitchFamily="34" charset="-120"/>
              </a:rPr>
              <a:t>Compute resources for large-scale evaluation?</a:t>
            </a:r>
            <a:endParaRPr lang="en-US" sz="1300" dirty="0"/>
          </a:p>
        </p:txBody>
      </p:sp>
      <p:sp>
        <p:nvSpPr>
          <p:cNvPr id="22" name="Text 16"/>
          <p:cNvSpPr/>
          <p:nvPr/>
        </p:nvSpPr>
        <p:spPr>
          <a:xfrm>
            <a:off x="1097280" y="4389120"/>
            <a:ext cx="7406640" cy="411480"/>
          </a:xfrm>
          <a:prstGeom prst="rect">
            <a:avLst/>
          </a:prstGeom>
          <a:noFill/>
          <a:ln/>
        </p:spPr>
        <p:txBody>
          <a:bodyPr wrap="square" lIns="0" tIns="0" rIns="0" bIns="0" rtlCol="0" anchor="ctr"/>
          <a:lstStyle/>
          <a:p>
            <a:pPr indent="0" marL="0">
              <a:buNone/>
            </a:pPr>
            <a:r>
              <a:rPr lang="en-US" sz="1000" dirty="0">
                <a:solidFill>
                  <a:srgbClr val="5D6D7E"/>
                </a:solidFill>
                <a:latin typeface="Calibri" pitchFamily="34" charset="0"/>
                <a:ea typeface="Calibri" pitchFamily="34" charset="-122"/>
                <a:cs typeface="Calibri" pitchFamily="34" charset="-120"/>
              </a:rPr>
              <a:t>Gal proposing compute resource allocation on Technion supercomputer. Need to scope GPU hours for full evaluation across all models and kernels.</a:t>
            </a:r>
            <a:endParaRPr lang="en-US" sz="1000" dirty="0"/>
          </a:p>
        </p:txBody>
      </p:sp>
      <p:sp>
        <p:nvSpPr>
          <p:cNvPr id="23" name="Text 17"/>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17 / 18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Next Steps &amp; Team Assignments</a:t>
            </a:r>
            <a:endParaRPr lang="en-US" sz="3000" dirty="0"/>
          </a:p>
        </p:txBody>
      </p:sp>
      <p:sp>
        <p:nvSpPr>
          <p:cNvPr id="3" name="Shape 1"/>
          <p:cNvSpPr/>
          <p:nvPr/>
        </p:nvSpPr>
        <p:spPr>
          <a:xfrm>
            <a:off x="457200" y="960120"/>
            <a:ext cx="8229600" cy="475488"/>
          </a:xfrm>
          <a:prstGeom prst="rect">
            <a:avLst/>
          </a:prstGeom>
          <a:solidFill>
            <a:srgbClr val="1B2455"/>
          </a:solidFill>
          <a:ln/>
        </p:spPr>
      </p:sp>
      <p:sp>
        <p:nvSpPr>
          <p:cNvPr id="4" name="Shape 2"/>
          <p:cNvSpPr/>
          <p:nvPr/>
        </p:nvSpPr>
        <p:spPr>
          <a:xfrm>
            <a:off x="502920" y="1033272"/>
            <a:ext cx="1280160" cy="320040"/>
          </a:xfrm>
          <a:prstGeom prst="rect">
            <a:avLst/>
          </a:prstGeom>
          <a:solidFill>
            <a:srgbClr val="8E44AD"/>
          </a:solidFill>
          <a:ln/>
        </p:spPr>
      </p:sp>
      <p:sp>
        <p:nvSpPr>
          <p:cNvPr id="5" name="Text 3"/>
          <p:cNvSpPr/>
          <p:nvPr/>
        </p:nvSpPr>
        <p:spPr>
          <a:xfrm>
            <a:off x="502920" y="1033272"/>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Tom</a:t>
            </a:r>
            <a:endParaRPr lang="en-US" sz="1000" dirty="0"/>
          </a:p>
        </p:txBody>
      </p:sp>
      <p:sp>
        <p:nvSpPr>
          <p:cNvPr id="6" name="Text 4"/>
          <p:cNvSpPr/>
          <p:nvPr/>
        </p:nvSpPr>
        <p:spPr>
          <a:xfrm>
            <a:off x="1965960" y="978408"/>
            <a:ext cx="6583680" cy="438912"/>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Augmentation engine — static, rule-based transforms on existing code</a:t>
            </a:r>
            <a:endParaRPr lang="en-US" sz="1100" dirty="0"/>
          </a:p>
        </p:txBody>
      </p:sp>
      <p:sp>
        <p:nvSpPr>
          <p:cNvPr id="7" name="Shape 5"/>
          <p:cNvSpPr/>
          <p:nvPr/>
        </p:nvSpPr>
        <p:spPr>
          <a:xfrm>
            <a:off x="457200" y="1527048"/>
            <a:ext cx="8229600" cy="475488"/>
          </a:xfrm>
          <a:prstGeom prst="rect">
            <a:avLst/>
          </a:prstGeom>
          <a:solidFill>
            <a:srgbClr val="141B3D"/>
          </a:solidFill>
          <a:ln/>
        </p:spPr>
      </p:sp>
      <p:sp>
        <p:nvSpPr>
          <p:cNvPr id="8" name="Shape 6"/>
          <p:cNvSpPr/>
          <p:nvPr/>
        </p:nvSpPr>
        <p:spPr>
          <a:xfrm>
            <a:off x="502920" y="1600200"/>
            <a:ext cx="1280160" cy="320040"/>
          </a:xfrm>
          <a:prstGeom prst="rect">
            <a:avLst/>
          </a:prstGeom>
          <a:solidFill>
            <a:srgbClr val="27AE60"/>
          </a:solidFill>
          <a:ln/>
        </p:spPr>
      </p:sp>
      <p:sp>
        <p:nvSpPr>
          <p:cNvPr id="9" name="Text 7"/>
          <p:cNvSpPr/>
          <p:nvPr/>
        </p:nvSpPr>
        <p:spPr>
          <a:xfrm>
            <a:off x="502920" y="1600200"/>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Erel + Leon</a:t>
            </a:r>
            <a:endParaRPr lang="en-US" sz="1000" dirty="0"/>
          </a:p>
        </p:txBody>
      </p:sp>
      <p:sp>
        <p:nvSpPr>
          <p:cNvPr id="10" name="Text 8"/>
          <p:cNvSpPr/>
          <p:nvPr/>
        </p:nvSpPr>
        <p:spPr>
          <a:xfrm>
            <a:off x="1965960" y="1545336"/>
            <a:ext cx="6583680" cy="438912"/>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Validation framework — ParCodex harness, Leon adding variable comparison</a:t>
            </a:r>
            <a:endParaRPr lang="en-US" sz="1100" dirty="0"/>
          </a:p>
        </p:txBody>
      </p:sp>
      <p:sp>
        <p:nvSpPr>
          <p:cNvPr id="11" name="Shape 9"/>
          <p:cNvSpPr/>
          <p:nvPr/>
        </p:nvSpPr>
        <p:spPr>
          <a:xfrm>
            <a:off x="457200" y="2093976"/>
            <a:ext cx="8229600" cy="475488"/>
          </a:xfrm>
          <a:prstGeom prst="rect">
            <a:avLst/>
          </a:prstGeom>
          <a:solidFill>
            <a:srgbClr val="1B2455"/>
          </a:solidFill>
          <a:ln/>
        </p:spPr>
      </p:sp>
      <p:sp>
        <p:nvSpPr>
          <p:cNvPr id="12" name="Shape 10"/>
          <p:cNvSpPr/>
          <p:nvPr/>
        </p:nvSpPr>
        <p:spPr>
          <a:xfrm>
            <a:off x="502920" y="2167128"/>
            <a:ext cx="1280160" cy="320040"/>
          </a:xfrm>
          <a:prstGeom prst="rect">
            <a:avLst/>
          </a:prstGeom>
          <a:solidFill>
            <a:srgbClr val="3498DB"/>
          </a:solidFill>
          <a:ln/>
        </p:spPr>
      </p:sp>
      <p:sp>
        <p:nvSpPr>
          <p:cNvPr id="13" name="Text 11"/>
          <p:cNvSpPr/>
          <p:nvPr/>
        </p:nvSpPr>
        <p:spPr>
          <a:xfrm>
            <a:off x="502920" y="2167128"/>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t>
            </a:r>
            <a:endParaRPr lang="en-US" sz="1000" dirty="0"/>
          </a:p>
        </p:txBody>
      </p:sp>
      <p:sp>
        <p:nvSpPr>
          <p:cNvPr id="14" name="Text 12"/>
          <p:cNvSpPr/>
          <p:nvPr/>
        </p:nvSpPr>
        <p:spPr>
          <a:xfrm>
            <a:off x="1965960" y="2112264"/>
            <a:ext cx="6583680" cy="438912"/>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Evaluation metrics — defining how we measure LLM translation quality</a:t>
            </a:r>
            <a:endParaRPr lang="en-US" sz="1100" dirty="0"/>
          </a:p>
        </p:txBody>
      </p:sp>
      <p:sp>
        <p:nvSpPr>
          <p:cNvPr id="15" name="Shape 13"/>
          <p:cNvSpPr/>
          <p:nvPr/>
        </p:nvSpPr>
        <p:spPr>
          <a:xfrm>
            <a:off x="457200" y="2660904"/>
            <a:ext cx="8229600" cy="475488"/>
          </a:xfrm>
          <a:prstGeom prst="rect">
            <a:avLst/>
          </a:prstGeom>
          <a:solidFill>
            <a:srgbClr val="141B3D"/>
          </a:solidFill>
          <a:ln/>
        </p:spPr>
      </p:sp>
      <p:sp>
        <p:nvSpPr>
          <p:cNvPr id="16" name="Shape 14"/>
          <p:cNvSpPr/>
          <p:nvPr/>
        </p:nvSpPr>
        <p:spPr>
          <a:xfrm>
            <a:off x="502920" y="2734056"/>
            <a:ext cx="1280160" cy="320040"/>
          </a:xfrm>
          <a:prstGeom prst="rect">
            <a:avLst/>
          </a:prstGeom>
          <a:solidFill>
            <a:srgbClr val="F1C40F"/>
          </a:solidFill>
          <a:ln/>
        </p:spPr>
      </p:sp>
      <p:sp>
        <p:nvSpPr>
          <p:cNvPr id="17" name="Text 15"/>
          <p:cNvSpPr/>
          <p:nvPr/>
        </p:nvSpPr>
        <p:spPr>
          <a:xfrm>
            <a:off x="502920" y="2734056"/>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Gal</a:t>
            </a:r>
            <a:endParaRPr lang="en-US" sz="1000" dirty="0"/>
          </a:p>
        </p:txBody>
      </p:sp>
      <p:sp>
        <p:nvSpPr>
          <p:cNvPr id="18" name="Text 16"/>
          <p:cNvSpPr/>
          <p:nvPr/>
        </p:nvSpPr>
        <p:spPr>
          <a:xfrm>
            <a:off x="1965960" y="2679192"/>
            <a:ext cx="6583680" cy="438912"/>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Compute resource proposals for Technion supercomputer allocation</a:t>
            </a:r>
            <a:endParaRPr lang="en-US" sz="1100" dirty="0"/>
          </a:p>
        </p:txBody>
      </p:sp>
      <p:sp>
        <p:nvSpPr>
          <p:cNvPr id="19" name="Shape 17"/>
          <p:cNvSpPr/>
          <p:nvPr/>
        </p:nvSpPr>
        <p:spPr>
          <a:xfrm>
            <a:off x="457200" y="3227832"/>
            <a:ext cx="8229600" cy="475488"/>
          </a:xfrm>
          <a:prstGeom prst="rect">
            <a:avLst/>
          </a:prstGeom>
          <a:solidFill>
            <a:srgbClr val="1B2455"/>
          </a:solidFill>
          <a:ln/>
        </p:spPr>
      </p:sp>
      <p:sp>
        <p:nvSpPr>
          <p:cNvPr id="20" name="Shape 18"/>
          <p:cNvSpPr/>
          <p:nvPr/>
        </p:nvSpPr>
        <p:spPr>
          <a:xfrm>
            <a:off x="502920" y="3300984"/>
            <a:ext cx="1280160" cy="320040"/>
          </a:xfrm>
          <a:prstGeom prst="rect">
            <a:avLst/>
          </a:prstGeom>
          <a:solidFill>
            <a:srgbClr val="1ABC9C"/>
          </a:solidFill>
          <a:ln/>
        </p:spPr>
      </p:sp>
      <p:sp>
        <p:nvSpPr>
          <p:cNvPr id="21" name="Text 19"/>
          <p:cNvSpPr/>
          <p:nvPr/>
        </p:nvSpPr>
        <p:spPr>
          <a:xfrm>
            <a:off x="502920" y="3300984"/>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Tomer</a:t>
            </a:r>
            <a:endParaRPr lang="en-US" sz="1000" dirty="0"/>
          </a:p>
        </p:txBody>
      </p:sp>
      <p:sp>
        <p:nvSpPr>
          <p:cNvPr id="22" name="Text 20"/>
          <p:cNvSpPr/>
          <p:nvPr/>
        </p:nvSpPr>
        <p:spPr>
          <a:xfrm>
            <a:off x="1965960" y="3246120"/>
            <a:ext cx="6583680" cy="438912"/>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Latent guidance exploration (supporting role)</a:t>
            </a:r>
            <a:endParaRPr lang="en-US" sz="1100" dirty="0"/>
          </a:p>
        </p:txBody>
      </p:sp>
      <p:sp>
        <p:nvSpPr>
          <p:cNvPr id="23" name="Shape 21"/>
          <p:cNvSpPr/>
          <p:nvPr/>
        </p:nvSpPr>
        <p:spPr>
          <a:xfrm>
            <a:off x="457200" y="3794760"/>
            <a:ext cx="8229600" cy="475488"/>
          </a:xfrm>
          <a:prstGeom prst="rect">
            <a:avLst/>
          </a:prstGeom>
          <a:solidFill>
            <a:srgbClr val="141B3D"/>
          </a:solidFill>
          <a:ln/>
        </p:spPr>
      </p:sp>
      <p:sp>
        <p:nvSpPr>
          <p:cNvPr id="24" name="Shape 22"/>
          <p:cNvSpPr/>
          <p:nvPr/>
        </p:nvSpPr>
        <p:spPr>
          <a:xfrm>
            <a:off x="502920" y="3867912"/>
            <a:ext cx="1280160" cy="320040"/>
          </a:xfrm>
          <a:prstGeom prst="rect">
            <a:avLst/>
          </a:prstGeom>
          <a:solidFill>
            <a:srgbClr val="1E2761"/>
          </a:solidFill>
          <a:ln/>
        </p:spPr>
      </p:sp>
      <p:sp>
        <p:nvSpPr>
          <p:cNvPr id="25" name="Text 23"/>
          <p:cNvSpPr/>
          <p:nvPr/>
        </p:nvSpPr>
        <p:spPr>
          <a:xfrm>
            <a:off x="502920" y="3867912"/>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Samyak</a:t>
            </a:r>
            <a:endParaRPr lang="en-US" sz="1000" dirty="0"/>
          </a:p>
        </p:txBody>
      </p:sp>
      <p:sp>
        <p:nvSpPr>
          <p:cNvPr id="26" name="Text 24"/>
          <p:cNvSpPr/>
          <p:nvPr/>
        </p:nvSpPr>
        <p:spPr>
          <a:xfrm>
            <a:off x="1965960" y="3813048"/>
            <a:ext cx="6583680" cy="438912"/>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Rodinia testing pipeline, Creation pillar prototype, LLM evaluation experiments</a:t>
            </a:r>
            <a:endParaRPr lang="en-US" sz="1100" dirty="0"/>
          </a:p>
        </p:txBody>
      </p:sp>
      <p:sp>
        <p:nvSpPr>
          <p:cNvPr id="27" name="Shape 25"/>
          <p:cNvSpPr/>
          <p:nvPr/>
        </p:nvSpPr>
        <p:spPr>
          <a:xfrm>
            <a:off x="0" y="4572000"/>
            <a:ext cx="9144000" cy="571500"/>
          </a:xfrm>
          <a:prstGeom prst="rect">
            <a:avLst/>
          </a:prstGeom>
          <a:solidFill>
            <a:srgbClr val="141B3D"/>
          </a:solidFill>
          <a:ln/>
        </p:spPr>
      </p:sp>
      <p:sp>
        <p:nvSpPr>
          <p:cNvPr id="28" name="Text 26"/>
          <p:cNvSpPr/>
          <p:nvPr/>
        </p:nvSpPr>
        <p:spPr>
          <a:xfrm>
            <a:off x="548640" y="4599432"/>
            <a:ext cx="822960" cy="320040"/>
          </a:xfrm>
          <a:prstGeom prst="rect">
            <a:avLst/>
          </a:prstGeom>
          <a:noFill/>
          <a:ln/>
        </p:spPr>
        <p:txBody>
          <a:bodyPr wrap="square" lIns="0" tIns="0" rIns="0" bIns="0" rtlCol="0" anchor="ctr"/>
          <a:lstStyle/>
          <a:p>
            <a:pPr algn="ctr" indent="0" marL="0">
              <a:buNone/>
            </a:pPr>
            <a:r>
              <a:rPr lang="en-US" sz="2200" b="1" dirty="0">
                <a:solidFill>
                  <a:srgbClr val="F1C40F"/>
                </a:solidFill>
                <a:latin typeface="Georgia" pitchFamily="34" charset="0"/>
                <a:ea typeface="Georgia" pitchFamily="34" charset="-122"/>
                <a:cs typeface="Georgia" pitchFamily="34" charset="-120"/>
              </a:rPr>
              <a:t>180</a:t>
            </a:r>
            <a:endParaRPr lang="en-US" sz="2200" dirty="0"/>
          </a:p>
        </p:txBody>
      </p:sp>
      <p:sp>
        <p:nvSpPr>
          <p:cNvPr id="29" name="Text 27"/>
          <p:cNvSpPr/>
          <p:nvPr/>
        </p:nvSpPr>
        <p:spPr>
          <a:xfrm>
            <a:off x="548640" y="4892040"/>
            <a:ext cx="822960" cy="22860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Specs</a:t>
            </a:r>
            <a:endParaRPr lang="en-US" sz="1000" dirty="0"/>
          </a:p>
        </p:txBody>
      </p:sp>
      <p:sp>
        <p:nvSpPr>
          <p:cNvPr id="30" name="Text 28"/>
          <p:cNvSpPr/>
          <p:nvPr/>
        </p:nvSpPr>
        <p:spPr>
          <a:xfrm>
            <a:off x="1920240" y="4599432"/>
            <a:ext cx="822960" cy="320040"/>
          </a:xfrm>
          <a:prstGeom prst="rect">
            <a:avLst/>
          </a:prstGeom>
          <a:noFill/>
          <a:ln/>
        </p:spPr>
        <p:txBody>
          <a:bodyPr wrap="square" lIns="0" tIns="0" rIns="0" bIns="0" rtlCol="0" anchor="ctr"/>
          <a:lstStyle/>
          <a:p>
            <a:pPr algn="ctr" indent="0" marL="0">
              <a:buNone/>
            </a:pPr>
            <a:r>
              <a:rPr lang="en-US" sz="2200" b="1" dirty="0">
                <a:solidFill>
                  <a:srgbClr val="F1C40F"/>
                </a:solidFill>
                <a:latin typeface="Georgia" pitchFamily="34" charset="0"/>
                <a:ea typeface="Georgia" pitchFamily="34" charset="-122"/>
                <a:cs typeface="Georgia" pitchFamily="34" charset="-120"/>
              </a:rPr>
              <a:t>84</a:t>
            </a:r>
            <a:endParaRPr lang="en-US" sz="2200" dirty="0"/>
          </a:p>
        </p:txBody>
      </p:sp>
      <p:sp>
        <p:nvSpPr>
          <p:cNvPr id="31" name="Text 29"/>
          <p:cNvSpPr/>
          <p:nvPr/>
        </p:nvSpPr>
        <p:spPr>
          <a:xfrm>
            <a:off x="1920240" y="4892040"/>
            <a:ext cx="822960" cy="22860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Kernels</a:t>
            </a:r>
            <a:endParaRPr lang="en-US" sz="1000" dirty="0"/>
          </a:p>
        </p:txBody>
      </p:sp>
      <p:sp>
        <p:nvSpPr>
          <p:cNvPr id="32" name="Text 30"/>
          <p:cNvSpPr/>
          <p:nvPr/>
        </p:nvSpPr>
        <p:spPr>
          <a:xfrm>
            <a:off x="3291840" y="4599432"/>
            <a:ext cx="822960" cy="320040"/>
          </a:xfrm>
          <a:prstGeom prst="rect">
            <a:avLst/>
          </a:prstGeom>
          <a:noFill/>
          <a:ln/>
        </p:spPr>
        <p:txBody>
          <a:bodyPr wrap="square" lIns="0" tIns="0" rIns="0" bIns="0" rtlCol="0" anchor="ctr"/>
          <a:lstStyle/>
          <a:p>
            <a:pPr algn="ctr" indent="0" marL="0">
              <a:buNone/>
            </a:pPr>
            <a:r>
              <a:rPr lang="en-US" sz="2200" b="1" dirty="0">
                <a:solidFill>
                  <a:srgbClr val="F1C40F"/>
                </a:solidFill>
                <a:latin typeface="Georgia" pitchFamily="34" charset="0"/>
                <a:ea typeface="Georgia" pitchFamily="34" charset="-122"/>
                <a:cs typeface="Georgia" pitchFamily="34" charset="-120"/>
              </a:rPr>
              <a:t>3</a:t>
            </a:r>
            <a:endParaRPr lang="en-US" sz="2200" dirty="0"/>
          </a:p>
        </p:txBody>
      </p:sp>
      <p:sp>
        <p:nvSpPr>
          <p:cNvPr id="33" name="Text 31"/>
          <p:cNvSpPr/>
          <p:nvPr/>
        </p:nvSpPr>
        <p:spPr>
          <a:xfrm>
            <a:off x="3291840" y="4892040"/>
            <a:ext cx="822960" cy="22860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APIs</a:t>
            </a:r>
            <a:endParaRPr lang="en-US" sz="1000" dirty="0"/>
          </a:p>
        </p:txBody>
      </p:sp>
      <p:sp>
        <p:nvSpPr>
          <p:cNvPr id="34" name="Text 32"/>
          <p:cNvSpPr/>
          <p:nvPr/>
        </p:nvSpPr>
        <p:spPr>
          <a:xfrm>
            <a:off x="4663440" y="4599432"/>
            <a:ext cx="822960" cy="320040"/>
          </a:xfrm>
          <a:prstGeom prst="rect">
            <a:avLst/>
          </a:prstGeom>
          <a:noFill/>
          <a:ln/>
        </p:spPr>
        <p:txBody>
          <a:bodyPr wrap="square" lIns="0" tIns="0" rIns="0" bIns="0" rtlCol="0" anchor="ctr"/>
          <a:lstStyle/>
          <a:p>
            <a:pPr algn="ctr" indent="0" marL="0">
              <a:buNone/>
            </a:pPr>
            <a:r>
              <a:rPr lang="en-US" sz="2200" b="1" dirty="0">
                <a:solidFill>
                  <a:srgbClr val="F1C40F"/>
                </a:solidFill>
                <a:latin typeface="Georgia" pitchFamily="34" charset="0"/>
                <a:ea typeface="Georgia" pitchFamily="34" charset="-122"/>
                <a:cs typeface="Georgia" pitchFamily="34" charset="-120"/>
              </a:rPr>
              <a:t>2</a:t>
            </a:r>
            <a:endParaRPr lang="en-US" sz="2200" dirty="0"/>
          </a:p>
        </p:txBody>
      </p:sp>
      <p:sp>
        <p:nvSpPr>
          <p:cNvPr id="35" name="Text 33"/>
          <p:cNvSpPr/>
          <p:nvPr/>
        </p:nvSpPr>
        <p:spPr>
          <a:xfrm>
            <a:off x="4663440" y="4892040"/>
            <a:ext cx="822960" cy="228600"/>
          </a:xfrm>
          <a:prstGeom prst="rect">
            <a:avLst/>
          </a:prstGeom>
          <a:noFill/>
          <a:ln/>
        </p:spPr>
        <p:txBody>
          <a:bodyPr wrap="square" lIns="0" tIns="0" rIns="0" bIns="0" rtlCol="0" anchor="ctr"/>
          <a:lstStyle/>
          <a:p>
            <a:pPr algn="ctr" indent="0" marL="0">
              <a:buNone/>
            </a:pPr>
            <a:r>
              <a:rPr lang="en-US" sz="1000" dirty="0">
                <a:solidFill>
                  <a:srgbClr val="CADCFC"/>
                </a:solidFill>
                <a:latin typeface="Calibri" pitchFamily="34" charset="0"/>
                <a:ea typeface="Calibri" pitchFamily="34" charset="-122"/>
                <a:cs typeface="Calibri" pitchFamily="34" charset="-120"/>
              </a:rPr>
              <a:t>Suites</a:t>
            </a:r>
            <a:endParaRPr lang="en-US" sz="1000" dirty="0"/>
          </a:p>
        </p:txBody>
      </p:sp>
      <p:sp>
        <p:nvSpPr>
          <p:cNvPr id="36" name="Text 34"/>
          <p:cNvSpPr/>
          <p:nvPr/>
        </p:nvSpPr>
        <p:spPr>
          <a:xfrm>
            <a:off x="5486400" y="4663440"/>
            <a:ext cx="3474720" cy="411480"/>
          </a:xfrm>
          <a:prstGeom prst="rect">
            <a:avLst/>
          </a:prstGeom>
          <a:noFill/>
          <a:ln/>
        </p:spPr>
        <p:txBody>
          <a:bodyPr wrap="square" lIns="0" tIns="0" rIns="0" bIns="0" rtlCol="0" anchor="ctr"/>
          <a:lstStyle/>
          <a:p>
            <a:pPr algn="r" indent="0" marL="0">
              <a:buNone/>
            </a:pPr>
            <a:r>
              <a:rPr lang="en-US" sz="1100" dirty="0">
                <a:solidFill>
                  <a:srgbClr val="7F8C8D"/>
                </a:solidFill>
                <a:latin typeface="Calibri" pitchFamily="34" charset="0"/>
                <a:ea typeface="Calibri" pitchFamily="34" charset="-122"/>
                <a:cs typeface="Calibri" pitchFamily="34" charset="-120"/>
              </a:rPr>
              <a:t>Sam Jhaveri  |  samyakjhaveri2799@gmail.com  |  Questions?</a:t>
            </a:r>
            <a:endParaRPr lang="en-US" sz="1100" dirty="0"/>
          </a:p>
        </p:txBody>
      </p:sp>
      <p:sp>
        <p:nvSpPr>
          <p:cNvPr id="37" name="Text 35"/>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7F8C8D"/>
                </a:solidFill>
                <a:latin typeface="Calibri" pitchFamily="34" charset="0"/>
                <a:ea typeface="Calibri" pitchFamily="34" charset="-122"/>
                <a:cs typeface="Calibri" pitchFamily="34" charset="-120"/>
              </a:rPr>
              <a:t>18 / 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ParBench Progress — March 2026</dc:title>
  <dc:subject>PptxGenJS Presentation</dc:subject>
  <dc:creator>Sam Jhaveri</dc:creator>
  <cp:lastModifiedBy>Sam Jhaveri</cp:lastModifiedBy>
  <cp:revision>1</cp:revision>
  <dcterms:created xsi:type="dcterms:W3CDTF">2026-03-05T06:17:39Z</dcterms:created>
  <dcterms:modified xsi:type="dcterms:W3CDTF">2026-03-05T06:17:39Z</dcterms:modified>
</cp:coreProperties>
</file>